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IDRM MVP — a people-centric disaster response platform, built as a simple, reliable modular monolith with a broader vision for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and mission, verbatim from Poster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from Poster 2. Out-of-scope items are the broader future vision, not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6. Designing for the whole lifecycle distinguishes IDRM from a simple ticketing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the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application, one process, one deployment — simple to run and evolve.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10 / MVP-04. Each layer has one job and talks mainly to its 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14 — high-level data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MVP-05 / Poster 15 — every request passes the same disciplined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nine-step business workflow. Every module serves a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how it is built (MVP monolith).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26 — many fast checks at the base, fewer broad checks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27 / MVP-05 CI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28 (Ubuntu). Primary MVP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signals + SLO/SLA targets (Poster 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training/mastery paths from 08-organization.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35 — the whole ecosystem in one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5156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96596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IDRM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993392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Disaster Response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93392" y="25420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 (MVP)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modular monolith — Python 3.12 · Flask + FastAPI · PostgreSQL/PostGIS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42062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Serene by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56432" y="42062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420624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evolve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 stakeholder. Resilient communities.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Why IDRM exists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vision, stakeholders, domains, lifecycle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096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IDRM 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0184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layers, modules, flows,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8" name="Text 16"/>
          <p:cNvSpPr/>
          <p:nvPr/>
        </p:nvSpPr>
        <p:spPr>
          <a:xfrm>
            <a:off x="834542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02624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How it is built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3712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repository, database, ER model, GIS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Trust &amp; quality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threat model, testing, CI/CD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1896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8" name="Text 26"/>
          <p:cNvSpPr/>
          <p:nvPr/>
        </p:nvSpPr>
        <p:spPr>
          <a:xfrm>
            <a:off x="4501896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9096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Running 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0184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deployment, observability, disaster recovery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5424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42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2624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People &amp; future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3712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ownership, training, evolution roadmap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IDRM Exists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vision, problem, people, and purpose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 delay situational awareness.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coordination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information flow hurts timely decisions.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reporting reduces accuracy.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allocate and track resources.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last-mile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under-informed during emergencies.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standardisation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interoperability across tools.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VISION &amp;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headed, and how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disaster-resilient world where communities, institutions, and responders act early, respond faster, and recover stronger — saving lives and livelihoods.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64808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people, processes, data, and technology on a unified platform that enables collaboration, situational awareness, and informed action across the disaster management lifecycle.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guiding principles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People-Centric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dignity, inclusion for 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Trust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accountability, privacy.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systems via open standards.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warnings, rapid response.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decisions from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long-term resilience.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strategic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data, tools, workflows.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096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0184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accurate information.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8" name="Text 16"/>
          <p:cNvSpPr/>
          <p:nvPr/>
        </p:nvSpPr>
        <p:spPr>
          <a:xfrm>
            <a:off x="834542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02624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Communication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3712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alerts &amp; coordination.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Empowerment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volunteers &amp; citizens.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1896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8" name="Text 26"/>
          <p:cNvSpPr/>
          <p:nvPr/>
        </p:nvSpPr>
        <p:spPr>
          <a:xfrm>
            <a:off x="4501896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9096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0184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resources &amp; outcomes.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5424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42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2624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Ecosystem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3712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partnerships.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MVP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&amp; dashboard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&amp; alerts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Tasking &amp; coordination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notifications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(basic)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access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audit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0078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(for now)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64808" y="2103120"/>
            <a:ext cx="50657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/ ML predictions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financial management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recovery planning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hardware solutions</a:t>
            </a:r>
            <a:endParaRPr lang="en-US" sz="13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third-party integrations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STAKEHOLDERS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IDRM serves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&amp; communities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needs, receive alerts.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9846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1014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NGOs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59302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skills, take tasks.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3660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1948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fire, medical, SDRF/NDRF.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5138" y="1481328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6306" y="1627632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administration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4594" y="2029968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&amp; allocate.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national agencies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oversight, escalation.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9846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41014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departments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559302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power, water, transport.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2492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23660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donors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41948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transparency.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5138" y="3963924"/>
            <a:ext cx="2626614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06306" y="4110228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public channels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24594" y="4512564"/>
            <a:ext cx="220599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Disseminate verified updates.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user personas &amp; responsibilities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incidents, request help, receive alerts, give feedback.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3317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64485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82773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availability, respond to tasks, share updates.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69434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70602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8890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alerts, execute response, share status.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75550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76718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95006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allocate resources, issue directives.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81667" y="1481328"/>
            <a:ext cx="2050085" cy="4297680"/>
          </a:xfrm>
          <a:prstGeom prst="roundRect">
            <a:avLst>
              <a:gd name="adj" fmla="val 4014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82835" y="1627632"/>
            <a:ext cx="1647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01123" y="2029968"/>
            <a:ext cx="162946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security, settings.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business domains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classify, track, escalate.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fleet, shelters.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skills, assignments.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layers, routing, geofencing.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in-app alerts.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KPIs,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disaster lifecycle IDRM supports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4094" y="29900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9" name="Shape 7"/>
          <p:cNvSpPr/>
          <p:nvPr/>
        </p:nvSpPr>
        <p:spPr>
          <a:xfrm>
            <a:off x="2748686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94406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4875581" y="29900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0173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85893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167067" y="29900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31659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77379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458554" y="29900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8" name="Shape 16"/>
          <p:cNvSpPr/>
          <p:nvPr/>
        </p:nvSpPr>
        <p:spPr>
          <a:xfrm>
            <a:off x="9623146" y="2377440"/>
            <a:ext cx="2108606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68866" y="2377440"/>
            <a:ext cx="20171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supports the full lifecycle — not just the emergency itself — so communities prepare before and recover stronger after.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IDRM 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one application, cleanly modular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 monolith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99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(Flask UI) · REST APIs (FastAPI) · Admin/Ops · Mobile/PWA (future) · Third-party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127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— one Python 3.12 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(Flask/Jinja2) · APIs (FastAPI) · Background jobs (threading · APScheduler) · Business modules · Cross-cutting (security · logging · config)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(primary) · Redis (cache/sessions) · Object / file storage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layers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481328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4813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&amp; Interaction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089404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08940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Functional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2697480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Business Services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3305556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33055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Platform Services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3913632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9136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&amp; Integration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4521708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45217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Intelligence &amp; Decision Support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5129784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512978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Operations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80160" y="5737860"/>
            <a:ext cx="960120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54480" y="57378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Security, Governance &amp;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FUNCTION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assessment, planning, SOPs.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detection, alerts.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mgmt, field ops.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allocation, tracking.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deployment.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Monitoring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maps, KPIs.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RBAC.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classify, track.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deployments.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/ Responder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assignments.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layers, routing.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/ Alerts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in-app.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6656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dashboards.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00728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01896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Media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20184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attachments.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44256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5424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Activity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63712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sense to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/ Sense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6966" y="23042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7278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/ Alert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23042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/ Plan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85682" y="23042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0274" y="1828800"/>
            <a:ext cx="2681478" cy="1097280"/>
          </a:xfrm>
          <a:prstGeom prst="roundRect">
            <a:avLst>
              <a:gd name="adj" fmla="val 666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5994" y="1828800"/>
            <a:ext cx="2590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/ Execute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3291840"/>
            <a:ext cx="2407920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32918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Track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712208" y="37673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76800" y="3291840"/>
            <a:ext cx="2407920" cy="1097280"/>
          </a:xfrm>
          <a:prstGeom prst="roundRect">
            <a:avLst>
              <a:gd name="adj" fmla="val 666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22520" y="32918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/ Learn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303008" y="37673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7600" y="3291840"/>
            <a:ext cx="2407920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13320" y="32918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/ Prepare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captured, validated, turned into situational awareness, acted on, tracked, and fed back into preparedness.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PACKET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is processed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6966" y="21899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7278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Edge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21899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(NGINX)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85682" y="21899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0274" y="1737360"/>
            <a:ext cx="2681478" cy="1051560"/>
          </a:xfrm>
          <a:prstGeom prst="roundRect">
            <a:avLst>
              <a:gd name="adj" fmla="val 6957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5994" y="1737360"/>
            <a:ext cx="25900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(Flask · FastAPI)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11274552" cy="2651760"/>
          </a:xfrm>
          <a:prstGeom prst="roundRect">
            <a:avLst>
              <a:gd name="adj" fmla="val 310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255264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processing pipeline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" y="3657600"/>
            <a:ext cx="108539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(CORS, auth, log)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(RBAC)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(Pydantic)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Business → Data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(serialize, headers)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business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149148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9" name="Shape 7"/>
          <p:cNvSpPr/>
          <p:nvPr/>
        </p:nvSpPr>
        <p:spPr>
          <a:xfrm>
            <a:off x="165608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180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8180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94640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9212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07212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3672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8244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36244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2704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276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65276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736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6308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4308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4" name="Shape 22"/>
          <p:cNvSpPr/>
          <p:nvPr/>
        </p:nvSpPr>
        <p:spPr>
          <a:xfrm>
            <a:off x="810768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5340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23340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7" name="Shape 25"/>
          <p:cNvSpPr/>
          <p:nvPr/>
        </p:nvSpPr>
        <p:spPr>
          <a:xfrm>
            <a:off x="939800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4372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10523728" y="25100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88320" y="1965960"/>
            <a:ext cx="1107440" cy="1234440"/>
          </a:xfrm>
          <a:prstGeom prst="roundRect">
            <a:avLst>
              <a:gd name="adj" fmla="val 660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734040" y="1965960"/>
            <a:ext cx="101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7: information, people, and resources flow from early warning through response to recovery and continuous improvement.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data — the MVP stack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·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(MVP) — and why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for the whole 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Jinja2 + Bootstrap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Server-rendered, accessible web UI.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REST APIs, OpenAPI docs.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· APScheduler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6656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background &amp; scheduled jobs.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0728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Alembic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0184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and versioned migrations.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44256" y="3136392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3282696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3712" y="3685032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with maps built 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and sessions (optional).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00728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01896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(Miniconda)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20184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toolchain.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44256" y="4791456"/>
            <a:ext cx="3587496" cy="1399032"/>
          </a:xfrm>
          <a:prstGeom prst="roundRect">
            <a:avLst>
              <a:gd name="adj" fmla="val 5882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5424" y="493776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· Uvicorn · NGINX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63712" y="5340096"/>
            <a:ext cx="3166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Flask &amp; FastAPI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· REPOSITORY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 (monolith)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— one codebase.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app/models · schemas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(SQLAlchemy) &amp; validation (Pydantic).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app/services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per module.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app/apis · routes · templates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Flask views, Jinja2 pages.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app/tasks · utils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&amp; shared helpers.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· tests · scripts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Alembic, pytest, automation.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shapes, spatial queries.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cache &amp; sessions (optional).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media, backups (S3-compatible).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groups (18 tables, Poster 22)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Administration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organizations · locations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· incident_types · incident_updates ·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282696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Management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3685032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· resources · resource_types · deployments · tasks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136392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282696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Content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3685032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media · geospatial_data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91456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937760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Audit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" y="5340096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communication_logs · audit_logs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22492" y="4791456"/>
            <a:ext cx="5509260" cy="1399032"/>
          </a:xfrm>
          <a:prstGeom prst="roundRect">
            <a:avLst>
              <a:gd name="adj" fmla="val 58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23660" y="4937760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1948" y="5340096"/>
            <a:ext cx="50886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keys · created_at/updated_at · PostGIS geometry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architecture (MVP)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queries spatial data (EPSG:4326).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via Python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Reads/writes/transforms geodata — no separate map server.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in the browser.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boundaries, hazard zones, assets, routes, areas.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· proven by testing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OIDC-ready.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in transit, at rest.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rejects bad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who-did-what.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safe cookies, hardening.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THREATS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4206240"/>
          </a:xfrm>
          <a:prstGeom prst="roundRect">
            <a:avLst>
              <a:gd name="adj" fmla="val 229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common web risks (injection, XSS, access).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4206240"/>
          </a:xfrm>
          <a:prstGeom prst="roundRect">
            <a:avLst>
              <a:gd name="adj" fmla="val 229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Spoofing, Tampering, Repudiation, Info disclosure, DoS, Elevation.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4206240"/>
          </a:xfrm>
          <a:prstGeom prst="roundRect">
            <a:avLst>
              <a:gd name="adj" fmla="val 229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earned at every boundary — authenticate, validate, rate-limit.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18408" y="160020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18408" y="1709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18408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user workflows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95448" y="2587752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95448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95448" y="30449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endpoint &amp; contract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81048" y="3575304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81048" y="3685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81048" y="40325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+ database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648" y="4562856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66648" y="4672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6648" y="50200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database, performance, security, contract, and user-acceptance testing. Coverage target ≈ 80%.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commit to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929384" y="27614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9" name="Shape 7"/>
          <p:cNvSpPr/>
          <p:nvPr/>
        </p:nvSpPr>
        <p:spPr>
          <a:xfrm>
            <a:off x="2093976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9696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566160" y="27614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76472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5202936" y="27614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67528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13248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839712" y="27614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04304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50024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8476488" y="27614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0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0113264" y="276148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77856" y="2194560"/>
            <a:ext cx="1453896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23576" y="219456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GitHub Actions. If any stage fails, the change stops there — problems are caught before users.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a standalone Ubuntu server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Ubuntu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737360"/>
            <a:ext cx="9601200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847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TLS · static files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80160" y="3108960"/>
            <a:ext cx="9601200" cy="1554480"/>
          </a:xfrm>
          <a:prstGeom prst="roundRect">
            <a:avLst>
              <a:gd name="adj" fmla="val 4706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218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application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611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→ Flask UI · Uvicorn → FastAPI · in-process jobs (systemd-managed)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4937760"/>
            <a:ext cx="960120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5047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5440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· Redis · Object / file storage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5852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server, one deployment unit. UFW firewall. AWS is a documented future variant.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what the system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 correlation IDs (Loki / ELK).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9846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1014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59302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latency, resources (Prometheus / Grafana).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2492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3660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1948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 &amp; bottlenecks (OpenTelemetry / Tempo).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05138" y="1554480"/>
            <a:ext cx="2626614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6306" y="1700784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4594" y="2103120"/>
            <a:ext cx="22059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→ email / SMS / webhook (Alertmanager).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11274552" cy="1600200"/>
          </a:xfrm>
          <a:prstGeom prst="roundRect">
            <a:avLst>
              <a:gd name="adj" fmla="val 5143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306824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targets (SLO / SLA)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6656" y="4709160"/>
            <a:ext cx="10853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≥ 99.5%   ·   API p95 &lt; 800 ms   ·   Error rate &lt; 1%   ·   Incident ack &lt; 5 min   ·   P1 resolution &lt; 1 hr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RECOVERY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DB &amp; file copies, local + off-site.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restore procedure.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Standby/recovery; grows with scale.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recent data you can afford to lose.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you must be back up.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failure never means lost data.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Future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ownership, growth, and evolution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across the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Business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scope, priorities.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standards.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Frontend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logic, accessible UI.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GIS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migrations, maps.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QA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test strategy.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SRE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monitor, backups.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(RACI — one accountable owner)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API Lead · Consulted: Backend, Security, QA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DBA · Consulted: Backend, Sys Admin,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Security Eng. · Consulted: DevSecOps, 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QA Manager · Consulted: Developers, Product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Tech Writer · Consulted: Architect, Devs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DevOps · Consulted: Developers, QA, Security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Novice → mastery, for every role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6966" y="28529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9" name="Shape 7"/>
          <p:cNvSpPr/>
          <p:nvPr/>
        </p:nvSpPr>
        <p:spPr>
          <a:xfrm>
            <a:off x="3321558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7278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28529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1636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85682" y="2852928"/>
            <a:ext cx="146304" cy="146304"/>
          </a:xfrm>
          <a:prstGeom prst="triangle">
            <a:avLst/>
          </a:prstGeom>
          <a:solidFill>
            <a:srgbClr val="5B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0274" y="2286000"/>
            <a:ext cx="2681478" cy="1280160"/>
          </a:xfrm>
          <a:prstGeom prst="roundRect">
            <a:avLst>
              <a:gd name="adj" fmla="val 5714"/>
            </a:avLst>
          </a:prstGeom>
          <a:solidFill>
            <a:srgbClr val="2C6E4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5994" y="2286000"/>
            <a:ext cx="25900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follows a four-rung ladder — understand the why &amp; what, do the core work, work independently, then set direction and mentor — guided by the documentation set.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simple, grow with confidence — 10 years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0–1 · Core modules, RBAC &amp; audit, maps &amp; basic analytics, stable on-prem.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4501896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096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Stabilization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0184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1–2 · Performance, HA, data governance, agency integrations, DR.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168249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8" name="Text 16"/>
          <p:cNvSpPr/>
          <p:nvPr/>
        </p:nvSpPr>
        <p:spPr>
          <a:xfrm>
            <a:off x="834542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02624" y="1664208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3712" y="2139696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2–3 · API ecosystem, GIS/remote sensing, IoT feeds, data sharing.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Intelligence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3–5 · AI/ML prediction, NLP, predictive alerts, decision support.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1896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8" name="Text 26"/>
          <p:cNvSpPr/>
          <p:nvPr/>
        </p:nvSpPr>
        <p:spPr>
          <a:xfrm>
            <a:off x="4501896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9096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Autonomy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0184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5–7 · Workflow automation, auto-dispatch, chatbot, computer vision.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5424" y="416509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424" y="4165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2624" y="4146804"/>
            <a:ext cx="2764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Resilience 2.0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3712" y="4622292"/>
            <a:ext cx="3166872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7–10 · Self-healing, cross-border interop, community resilience.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007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3145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responders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&amp; partners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7007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35424" y="2103120"/>
            <a:ext cx="3145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· Resource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· GIS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74736" y="15544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70078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94192" y="2103120"/>
            <a:ext cx="3145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app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DB with maps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observable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today. Protected tomorrow.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 service of humanity.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communities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IDRM MVP — one platform, every stakeholder, resilient communities.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3232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map &amp;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DOCS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documentation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set (00–08)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→ Foundation → Architecture → Engineering → Data → Security → Quality → Operations → Organization.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0728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1896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(90)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0184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4256" y="1481328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5424" y="1627632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history (99)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3712" y="2029968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ADRs, conformance record, change log.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deep-dive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· architecture &amp; design · API + OpenAPI · data model · traceability.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00728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1896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0184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· Responder · Coordinator · Administrator.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4256" y="3963924"/>
            <a:ext cx="3587496" cy="2226564"/>
          </a:xfrm>
          <a:prstGeom prst="roundRect">
            <a:avLst>
              <a:gd name="adj" fmla="val 369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5424" y="4110228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63712" y="4512564"/>
            <a:ext cx="3166872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visual source.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STANDARDS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conformance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MVP — Integrated Disaster Response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for all users.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2492" y="1481328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627632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1948" y="2029968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22301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3712464"/>
            <a:ext cx="5509260" cy="1975104"/>
          </a:xfrm>
          <a:prstGeom prst="roundRect">
            <a:avLst>
              <a:gd name="adj" fmla="val 4167"/>
            </a:avLst>
          </a:prstGeom>
          <a:solidFill>
            <a:srgbClr val="E4EFE8"/>
          </a:solidFill>
          <a:ln/>
          <a:effectLst>
            <a:outerShdw sx="100000" sy="100000" kx="0" ky="0" algn="bl" rotWithShape="0" blurRad="76200" dist="25400" dir="5400000">
              <a:srgbClr val="AEB9C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3660" y="3858768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2023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1948" y="4261104"/>
            <a:ext cx="50886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data protection &amp; privacy.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IDRM MVP</dc:title>
  <dc:subject>PptxGenJS Presentation</dc:subject>
  <dc:creator>IDRM</dc:creator>
  <cp:lastModifiedBy>IDRM</cp:lastModifiedBy>
  <cp:revision>1</cp:revision>
  <dcterms:created xsi:type="dcterms:W3CDTF">2026-08-09T04:31:00Z</dcterms:created>
  <dcterms:modified xsi:type="dcterms:W3CDTF">2026-08-09T04:31:00Z</dcterms:modified>
</cp:coreProperties>
</file>