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IDRM.I — Integrated Disaster Response Management for India (MVP).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why, what, where, when, who, how — the questions IDRM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</a:t>
            </a:r>
            <a:pPr algn="ctr" indent="0" marL="0">
              <a:buNone/>
            </a:pPr>
            <a:r>
              <a:rPr lang="en-US" sz="8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algn="ctr" indent="0" marL="0">
              <a:buNone/>
            </a:pPr>
            <a:r>
              <a:rPr lang="en-US" sz="80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Disaster Response Management  ·  for </a:t>
            </a:r>
            <a:pPr algn="ctr" indent="0" marL="0">
              <a:buNone/>
            </a:pPr>
            <a:r>
              <a:rPr lang="en-US" sz="22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Product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we answer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596128" y="3246120"/>
            <a:ext cx="1005840" cy="1005840"/>
          </a:xfrm>
          <a:prstGeom prst="ellipse">
            <a:avLst/>
          </a:prstGeom>
          <a:solidFill>
            <a:srgbClr val="C2610A"/>
          </a:solidFill>
          <a:ln/>
        </p:spPr>
      </p:sp>
      <p:sp>
        <p:nvSpPr>
          <p:cNvPr id="6" name="Text 4"/>
          <p:cNvSpPr/>
          <p:nvPr/>
        </p:nvSpPr>
        <p:spPr>
          <a:xfrm>
            <a:off x="5596128" y="318211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74920" y="187452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8745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0" y="251460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5146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251460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5146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43200" y="457200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45720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457200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45720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74920" y="521208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52120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disaster types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prone to a wide range of disasters — social, economic and environmental in impact.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most common, annual monsoon flooding.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irregular rainfall; agriculture &amp; livelihoods.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coastal storms, surges, infrastructure damage.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Himalayan &amp; seismic zones.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hilly regions during heavy rain.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Heatwaves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deadly summer temperatures.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dry/forested regions; biodiversity loss.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Tsunamis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undersea quakes; coastal inundation.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flooding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drainage overwhelmed in cities.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waves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northern winters; health &amp; agriculture.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high‑altitude Himalayas in winter.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mission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 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disaster‑resilient world where communities, institutions and</a:t>
            </a:r>
            <a:endParaRPr lang="en-US" sz="1900" dirty="0"/>
          </a:p>
          <a:p>
            <a:pPr marL="533400" indent="-533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responders act early, respond faster and recover stronger — saving lives and livelihoods.</a:t>
            </a:r>
            <a:endParaRPr lang="en-US" sz="1900" dirty="0"/>
          </a:p>
          <a:p>
            <a:pPr marL="203200" indent="-203200">
              <a:spcBef>
                <a:spcPts val="1200"/>
              </a:spcBef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 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 integrate people, processes, data and technology on a unified</a:t>
            </a:r>
            <a:endParaRPr lang="en-US" sz="1900" dirty="0"/>
          </a:p>
          <a:p>
            <a:pPr marL="533400" indent="-533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enabling collaboration, situational awareness and informed action across the lifecycle.</a:t>
            </a:r>
            <a:endParaRPr lang="en-US" sz="1900" dirty="0"/>
          </a:p>
          <a:p>
            <a:pPr marL="203200" indent="-203200">
              <a:spcBef>
                <a:spcPts val="1200"/>
              </a:spcBef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 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People‑Centric · Integrity &amp; Trust · Interoperability · Timeliness · Innovation · Sustainability.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&amp; communities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report, request help, receive alerts, give feedback.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&amp; community groups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(NGOs / CBOs) — force multipliers in relief.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services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Police, Fire, Medical, SDRF, NDRF, Coast Guard, Home Guards.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administration &amp; EOCs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command, coordination, allocation, oversight.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national agencies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NDMA, MHA, NDRF, IMD, ISRO, MoHFW, BRO, Railways.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&amp; external systems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weather/IMD, satellite/ISRO, health, UN, media, crowd sources.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reports needs, tracks status, receives alerts. Needs simplicity &amp; language support.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registers availability &amp; skills, responds to tasks, shares updates.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responder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acts on alerts, executes response, shares real‑time status.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/ District admin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triages, allocates resources, issues directives, communicates.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manages users, roles, configuration and audit oversight.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official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dashboards &amp; reports for decisions and accountability.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domains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report, classify, track, escalate.</a:t>
            </a:r>
            <a:endParaRPr lang="en-US" sz="19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inventory, fleet, shelters.</a:t>
            </a:r>
            <a:endParaRPr lang="en-US" sz="19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Management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register, skills, assignments.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30936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&amp; Mapping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maps, layers, routing.</a:t>
            </a:r>
            <a:endParaRPr lang="en-US" sz="19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alerts across channels.</a:t>
            </a:r>
            <a:endParaRPr lang="en-US" sz="19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reports, KPIs, dashboards.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disaster‑management cycle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&amp; Preparedness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566160" cy="0"/>
          </a:xfrm>
          <a:prstGeom prst="line">
            <a:avLst/>
          </a:prstGeom>
          <a:noFill/>
          <a:ln w="25400">
            <a:solidFill>
              <a:srgbClr val="3F7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1460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vulnerability assessment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SOPs, regulations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field exercises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Early‑warning readiness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resources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34840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&amp; Intervention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566160" cy="0"/>
          </a:xfrm>
          <a:prstGeom prst="line">
            <a:avLst/>
          </a:prstGeom>
          <a:noFill/>
          <a:ln w="25400">
            <a:solidFill>
              <a:srgbClr val="B01B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251460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Decision‑making &amp; mobilization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of authorities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rescue, first aid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assessment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to public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21040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 &amp; Recovery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321040" y="2377440"/>
            <a:ext cx="3566160" cy="0"/>
          </a:xfrm>
          <a:prstGeom prst="line">
            <a:avLst/>
          </a:prstGeom>
          <a:noFill/>
          <a:ln w="25400">
            <a:solidFill>
              <a:srgbClr val="C261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51460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&amp; temporary housing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social support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public services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support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improve plans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phases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response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Search &amp; rescue operations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First‑aid &amp; medical care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Mitigate induced‑phenomena impact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Provide emergency supplies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· Provide emergency shelters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· Post‑event building inspections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 · Immediate financial relief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Mid‑term response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09360" y="219456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Semi‑permanent housing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Suspension of tax liabilities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Housing assistance for restoration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Suspension of insurance contributions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· Extensions for tax declarations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&amp; proactive planning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Preparedness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700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7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Post‑event evaluation &amp; learning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sustainability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&amp; adaptive strategies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&amp; privacy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pPr indent="0" marL="0">
              <a:buNone/>
            </a:pPr>
            <a:r>
              <a:rPr lang="en-US" sz="17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sharing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&amp; equitable response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integration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resource optimization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&amp; collaboration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stakeholders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anatomy of the human body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behaves like a living system — it senses &amp; signals, and it moves resources.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 network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communicates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brain orchestrates organs via electric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500" dirty="0"/>
          </a:p>
          <a:p>
            <a:pPr marL="203200" indent="-203200">
              <a:spcBef>
                <a:spcPts val="1200"/>
              </a:spcBef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</a:t>
            </a:r>
            <a:pPr indent="0" marL="0">
              <a:buNone/>
            </a:pPr>
            <a:r>
              <a:rPr lang="en-US" sz="15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/ Signal Highway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circulatory network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transports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09360" y="251460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nutrients / oxygen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healthcare, food &amp; goods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reserved forces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toxins away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risk mitigation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anti‑bodies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preservation, protection &amp; feedback</a:t>
            </a:r>
            <a:endParaRPr lang="en-US" sz="1500" dirty="0"/>
          </a:p>
          <a:p>
            <a:pPr marL="203200" indent="-203200">
              <a:spcBef>
                <a:spcPts val="1200"/>
              </a:spcBef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</a:t>
            </a:r>
            <a:pPr indent="0" marL="0">
              <a:buNone/>
            </a:pPr>
            <a:r>
              <a:rPr lang="en-US" sz="15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/ Transportation Highway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highways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280160" y="2194560"/>
            <a:ext cx="9601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1F6F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2377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/ Signal Highway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880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awareness · alerts · knowledge · feedback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80160" y="3931920"/>
            <a:ext cx="9601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B01B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/ Transportation Highway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4617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· relief supplies · responders · money pooling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IDRM.</a:t>
            </a:r>
            <a:pPr indent="0" marL="0">
              <a:buNone/>
            </a:pPr>
            <a:r>
              <a:rPr lang="en-US" sz="34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buNone/>
            </a:pPr>
            <a:r>
              <a:rPr lang="en-US" sz="3400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web‑portal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Response Management for India — a web‑application portal that serves as: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interface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all interested parties (requestors, volunteers, providers,</a:t>
            </a:r>
            <a:endParaRPr lang="en-US" sz="1700" dirty="0"/>
          </a:p>
          <a:p>
            <a:pPr marL="533400" indent="-533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audit) via map annotations and visual charts.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Management System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(CMS/KMS) — information via wikis, chatbot, SMS,</a:t>
            </a:r>
            <a:endParaRPr lang="en-US" sz="1700" dirty="0"/>
          </a:p>
          <a:p>
            <a:pPr marL="533400" indent="-533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preferably with context tracking.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Money‑pooling portal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needy individuals, causes and service activities, with accountability.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platform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logging &amp; tracking all services, with anonymized identity‑aware services and privacy.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IDRM.</a:t>
            </a:r>
            <a:pPr indent="0" marL="0">
              <a:buNone/>
            </a:pPr>
            <a:r>
              <a:rPr lang="en-US" sz="34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five </a:t>
            </a:r>
            <a:pPr indent="0" marL="0">
              <a:buNone/>
            </a:pPr>
            <a:r>
              <a:rPr lang="en-US" sz="3400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22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</a:t>
            </a:r>
            <a:endParaRPr lang="en-US" sz="22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22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Building</a:t>
            </a:r>
            <a:endParaRPr lang="en-US" sz="22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22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22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22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22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22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outreach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09360" y="182880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22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Privacy‑controls</a:t>
            </a:r>
            <a:endParaRPr lang="en-US" sz="22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22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22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22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Internationalization</a:t>
            </a:r>
            <a:endParaRPr lang="en-US" sz="22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(locale support)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processes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enumeration &amp; tracking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collaboration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communication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09360" y="219456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Memos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Mis‑use &amp; anomaly detection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preservation &amp; protection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deliver (SDLC)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discovery, feasibility, value → </a:t>
            </a:r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note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&amp; Architecture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requirements, design → </a:t>
            </a:r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build to standards, versioned → </a:t>
            </a:r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functional, performance, UAT → </a:t>
            </a:r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sign‑off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CI/CD, go‑live, rollback → </a:t>
            </a:r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monitor, backup, support, SLA → </a:t>
            </a:r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system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feedback, tuning, roadmap → </a:t>
            </a:r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outcomes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— </a:t>
            </a:r>
            <a:pPr indent="0" marL="0">
              <a:buNone/>
            </a:pPr>
            <a:r>
              <a:rPr lang="en-US" sz="34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deep‑dive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3749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data · security · quality · operations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(a modular monolith)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Python 3.12 application. Simple to run, tidy inside, ready to grow.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Flask + Jinja2 + Bootstrap 5 (server‑rendered).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FastAPI + Pydantic (validated, OpenAPI 3.1).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threading / ThreadPoolExecutor + APScheduler (in‑process).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PostgreSQL + PostGIS (primary) · Redis (cache) · object storage.</a:t>
            </a:r>
            <a:endParaRPr lang="en-US" sz="1800" dirty="0"/>
          </a:p>
          <a:p>
            <a:pPr marL="203200" indent="-203200">
              <a:spcBef>
                <a:spcPts val="1200"/>
              </a:spcBef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 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→ </a:t>
            </a:r>
            <a:pPr indent="0" marL="0">
              <a:buNone/>
            </a:pPr>
            <a:r>
              <a:rPr lang="en-US" sz="18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Production Monolith → Enterprise FFP.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 layers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User &amp; Interaction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Core Functional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Business Services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Platform Services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09360" y="173736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Data &amp; Integration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Intelligence &amp; Decision Support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Infrastructure &amp; Operations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Security, Governance &amp; Compliance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components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/ Responder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&amp; Mapping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/ Alerts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/ Media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Activity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Administration &amp; Integration services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flows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routing → middleware (CORS, auth, log) → </a:t>
            </a:r>
            <a:pPr indent="0" marL="0">
              <a:buNone/>
            </a:pPr>
            <a:r>
              <a:rPr lang="en-US" sz="17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(JWT)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7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(RBAC) → validation (Pydantic) → controller → business module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7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(SQLAlchemy) → PostgreSQL / PostGIS / Redis → response</a:t>
            </a:r>
            <a:endParaRPr lang="en-US" sz="1700" dirty="0"/>
          </a:p>
          <a:p>
            <a:pPr marL="203200" indent="-203200">
              <a:spcBef>
                <a:spcPts val="1200"/>
              </a:spcBef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task → queue → worker thread → execute → notify → complete (APScheduler for schedules).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language.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Jinja2 · Bootstrap 5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web UI.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Pydantic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APIs.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· APScheduler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jobs.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Miniconda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env &amp; GIS/GDAL.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· Alembic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ORM &amp; migrations.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PostGIS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data + maps.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cache/sessions (optional).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· Uvicorn · NGINX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serving.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Ruff · Black · mypy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quality.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repository; each module slices across models, schemas, services, apis, routes.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models · schemas · services · apis · routes · templates · static · tasks · utils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migrations/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Alembic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unit · integration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 · run.py · requirements.txt · environment.yml · .env.example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system of record.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spatial types &amp; indexing (GiST); proximity queries.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cache, sessions, rate‑limit counters (optional).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MinIO (S3‑compatible) or local/S3: documents, media, backups.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model (18 tables)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Administration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roles · organizations · locations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· incident_types · incident_updates · alerts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Management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responders · resources · resource_types · deployments · tasks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Content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· media · geospatial_data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Audit 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communication_logs · audit_logs</a:t>
            </a:r>
            <a:endParaRPr lang="en-US" sz="1600" dirty="0"/>
          </a:p>
          <a:p>
            <a:pPr marL="203200" indent="-203200">
              <a:spcBef>
                <a:spcPts val="1200"/>
              </a:spcBef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keys · created_at/updated_at · PostGIS geometry · immutable audit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&amp; map services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GDAL + PostGIS — no separate map server for the MVP (GeoServer optional, future).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Annotator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service request ID, geo‑location.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Summarizer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counts; region‑wise &amp; category‑wise.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Work‑flows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collection, clustering, routing &amp; optimization.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936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EPSG:4326 · GiST indexes · ST_DWithin.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locations, boundaries, hazard zones, assets, routes, areas.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maps · caching for re‑rendering.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request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record — maps to the incidents entity.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 ID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Type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Requestor ID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location (lat, lon)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/ comments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&amp; timeline tracking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IDRM.</a:t>
            </a:r>
            <a:pPr indent="0" marL="0">
              <a:buNone/>
            </a:pPr>
            <a:r>
              <a:rPr lang="en-US" sz="34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requirements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AAA (OAuth2, SAML, JWT) with </a:t>
            </a:r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all user types.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Privacy‑controls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Privacy Preservation &amp; Protection (PPP).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location‑ &amp; identity‑aware services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dashboards, routing, export, caching.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Data‑warehousing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analytics &amp; activity logging.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capture requests &amp; feedback; social‑media integration.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pooling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enabling service, social &amp; charitable activities.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application · data · infrastructure · operational.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Zero Trust · Defense in Depth · Least Privilege.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authN (OIDC/MFA) → JWT → RBAC → audit.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 · input validation · CSRF/XSS/SQLi protection.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· security headers · immutable audit.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· NIST CSF · OWASP · DPDP Act 2023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+ STRIDE · assets · trust boundaries · risk = likelihood × impact.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Broken access → RBAC, least privilege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Crypto failures → TLS, encryption, secrets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Injection → validation, ORM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Misconfig → hardening, patching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A06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Vulnerable components → scanning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Auth failures → OIDC, MFA, lockout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Logging failures → central logs, alerts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SSRF → egress filtering, URL validation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~60%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~20%  ·  Integration ~15%  ·  E2E ~5%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database · performance · security · contract · UAT.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≥ 80%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(≥ 70% gate).  Tools: pytest, Ruff, Playwright, k6, OWASP ZAP.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test early, run in CI/CD on every change.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Lint &amp; Format → Type Check → Test → Coverage → Package → </a:t>
            </a:r>
            <a:pPr indent="0" marL="0">
              <a:buNone/>
            </a:pPr>
            <a:r>
              <a:rPr lang="en-US" sz="18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800" dirty="0"/>
          </a:p>
          <a:p>
            <a:pPr marL="203200" indent="-203200">
              <a:spcBef>
                <a:spcPts val="1200"/>
              </a:spcBef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fail‑fast. Release gates: lint, tests, coverage, no high/critical vulns, smoke checks.</a:t>
            </a:r>
            <a:endParaRPr lang="en-US" sz="18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DORA: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deployment frequency · lead time · change‑failure rate · MTTR.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(Ubuntu)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Ubuntu 22.04 LTS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~4 vCPU / 16 GB / 500 GB SSD, static IP.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(TLS) → Gunicorn (Flask) + Uvicorn (FastAPI) + in‑process jobs; PostgreSQL/PostGIS, Redis; systemd.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Ports: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22 (SSH) · 80 → 443 · rest blocked (UFW).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Hardening: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SSH‑key, Fail2Ban, Let’s Encrypt, secrets in .env, patching.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SLO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Loki/ELK.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Prometheus/Grafana.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OpenTelemetry/Tempo.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Alertmanager.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SLO/SLA</a:t>
            </a:r>
            <a:endParaRPr lang="en-US" sz="1700" dirty="0"/>
          </a:p>
          <a:p>
            <a:pPr marL="533400" indent="-533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≥ 99.5%</a:t>
            </a:r>
            <a:endParaRPr lang="en-US" sz="1700" dirty="0"/>
          </a:p>
          <a:p>
            <a:pPr marL="533400" indent="-533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p95 &lt; 800 ms · error &lt; 1%</a:t>
            </a:r>
            <a:endParaRPr lang="en-US" sz="1700" dirty="0"/>
          </a:p>
          <a:p>
            <a:pPr marL="533400" indent="-533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ack &lt; 5 min · P1 &lt; 1 hr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DB (daily + WAL, 30 d) · files · configs · system — local + off‑site.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B0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/ RTO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web &amp; DB 1 hr / 2 hr · files 4 hr / 4 hr.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Detect → Assess → Failover → Recover → Validate → Communicate → Review.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3‑2‑1 rule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quarterly restore &amp; semi‑annual failover drills · pg_dump, borgbackup, rsync.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ownership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by SDLC</a:t>
            </a:r>
            <a:endParaRPr lang="en-US" sz="1700" dirty="0"/>
          </a:p>
          <a:p>
            <a:pPr marL="533400" indent="-533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Product/BA · Architect</a:t>
            </a:r>
            <a:endParaRPr lang="en-US" sz="1700" dirty="0"/>
          </a:p>
          <a:p>
            <a:pPr marL="533400" indent="-533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Backend/Frontend · Data/GIS</a:t>
            </a:r>
            <a:endParaRPr lang="en-US" sz="1700" dirty="0"/>
          </a:p>
          <a:p>
            <a:pPr marL="533400" indent="-533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QA · DevOps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(RACI)</a:t>
            </a:r>
            <a:endParaRPr lang="en-US" sz="1700" dirty="0"/>
          </a:p>
          <a:p>
            <a:pPr marL="533400" indent="-533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→ API Lead · Database → DBA</a:t>
            </a:r>
            <a:endParaRPr lang="en-US" sz="1700" dirty="0"/>
          </a:p>
          <a:p>
            <a:pPr marL="533400" indent="-533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→ Security Eng.</a:t>
            </a:r>
            <a:endParaRPr lang="en-US" sz="1700" dirty="0"/>
          </a:p>
          <a:p>
            <a:pPr marL="533400" indent="-533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→ QA · CI/CD → DevOps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10‑year roadmap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Foundation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(Yr 0–1) — core, RBAC, maps, stable on‑prem.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Stabilization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(Yr 1–2) — performance, HA, governance, DR.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Integration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(Yr 2–3) — APIs, remote sensing, IoT feeds.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Intelligence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(Yr 3–5) — AI/ML prediction, decision support.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Autonomy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(Yr 5–7) — automation, auto‑dispatch, chatbot.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Resilience 2.0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(Yr 7–10) — self‑healing, cross‑border interop.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— </a:t>
            </a:r>
            <a:pPr indent="0" marL="0">
              <a:buNone/>
            </a:pPr>
            <a:r>
              <a:rPr lang="en-US" sz="3400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64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3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citizens, volunteers, responders, officials, agencies, partners.</a:t>
            </a:r>
            <a:endParaRPr lang="en-US" sz="19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incident · resource · volunteer · GIS · communication · analytics.</a:t>
            </a:r>
            <a:endParaRPr lang="en-US" sz="19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 Python app · one DB with maps · secure &amp; observable · ready to grow.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stakeholder. Resilient communities.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IDRM.</a:t>
            </a:r>
            <a:pPr indent="0" marL="0">
              <a:buNone/>
            </a:pPr>
            <a:r>
              <a:rPr lang="en-US" sz="34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references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Sahana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disaster‑management software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GeoCove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Disaster Risk Reduction Toolkit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NLP/NLU chatbot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Data for Good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173736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WCAG 2.2 AA · ISO 27001 · ISO 22301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· OpenAPI 3.1 · OWASP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ISO/IEC/IEEE 29148 · 42010 · NIST CSF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today. </a:t>
            </a:r>
            <a:pPr algn="ctr" indent="0" marL="0">
              <a:buNone/>
            </a:pPr>
            <a:r>
              <a:rPr lang="en-US" sz="40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tomorrow.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 service of humanity.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57200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</a:t>
            </a:r>
            <a:pPr algn="ctr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algn="ctr" indent="0" marL="0">
              <a:buNone/>
            </a:pPr>
            <a:r>
              <a:rPr lang="en-US" sz="3000" dirty="0">
                <a:solidFill>
                  <a:srgbClr val="C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IDRM · Integrated Disaster Response Management for India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528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IDRM MVP — for India</dc:title>
  <dc:subject>PptxGenJS Presentation</dc:subject>
  <dc:creator>IDRM</dc:creator>
  <cp:lastModifiedBy>IDRM</cp:lastModifiedBy>
  <cp:revision>1</cp:revision>
  <dcterms:created xsi:type="dcterms:W3CDTF">2026-08-09T07:10:46Z</dcterms:created>
  <dcterms:modified xsi:type="dcterms:W3CDTF">2026-08-09T07:10:46Z</dcterms:modified>
</cp:coreProperties>
</file>