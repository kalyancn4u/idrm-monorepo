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3.org/TR/WCAG22/" TargetMode="External"/><Relationship Id="rId3" Type="http://schemas.openxmlformats.org/officeDocument/2006/relationships/hyperlink" Target="https://www.nist.gov/publications/nist-cybersecurity-framework-csf-20" TargetMode="External"/><Relationship Id="rId4" Type="http://schemas.openxmlformats.org/officeDocument/2006/relationships/hyperlink" Target="https://csrc.nist.gov/pubs/sp/800/63/B/4/final" TargetMode="External"/><Relationship Id="rId5" Type="http://schemas.openxmlformats.org/officeDocument/2006/relationships/hyperlink" Target="https://www.iso.org/cms/%20render/live/en/sites/isoorg/contents/data/standard/06/78/67851.html" TargetMode="External"/><Relationship Id="rId6" Type="http://schemas.openxmlformats.org/officeDocument/2006/relationships/hyperlink" Target="https://www.usfa.fema.gov/a-z/nim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1051560"/>
            <a:ext cx="2194560" cy="2194560"/>
          </a:xfrm>
          <a:prstGeom prst="ellipse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16367" y="1307592"/>
            <a:ext cx="3072384" cy="3072384"/>
          </a:xfrm>
          <a:prstGeom prst="ellipse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77455" y="1563624"/>
            <a:ext cx="3950208" cy="3950208"/>
          </a:xfrm>
          <a:prstGeom prst="ellipse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38544" y="1819656"/>
            <a:ext cx="4828031" cy="4828031"/>
          </a:xfrm>
          <a:prstGeom prst="ellipse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99631" y="2075688"/>
            <a:ext cx="5705856" cy="5705856"/>
          </a:xfrm>
          <a:prstGeom prst="ellipse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6949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IDRM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4884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DDD6C5"/>
                </a:solidFill>
                <a:latin typeface="Aptos Display"/>
              </a:defRPr>
            </a:pPr>
            <a:r>
              <a:t>Integrated Disaster Response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6675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3898C"/>
                </a:solidFill>
                <a:latin typeface="Aptos"/>
              </a:defRPr>
            </a:pPr>
            <a:r>
              <a:t>MVP • Product, Architecture, Operations &amp; Enterprise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t>A disciplined foundation for incident awareness, coordination, resource movement, accountability and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Executive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MVP is not “a dashboard”; it is a coordinated operational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011680" cy="3063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64008" cy="30632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46504"/>
            <a:ext cx="1664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38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48840"/>
            <a:ext cx="1645920" cy="2404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Capture incidents, reports, alerts, locations and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600200"/>
            <a:ext cx="2011680" cy="3063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1600200"/>
            <a:ext cx="64008" cy="30632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46504"/>
            <a:ext cx="1664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38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48840"/>
            <a:ext cx="1645920" cy="2404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Establish incident state, severity, priorities and assignments.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1600200"/>
            <a:ext cx="2011680" cy="3063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1600200"/>
            <a:ext cx="64008" cy="30632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1746504"/>
            <a:ext cx="1664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38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148840"/>
            <a:ext cx="1645920" cy="2404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Connect people, tasks, resources, agencies and communications.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600200"/>
            <a:ext cx="2011680" cy="3063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1600200"/>
            <a:ext cx="64008" cy="30632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746504"/>
            <a:ext cx="1664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38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148840"/>
            <a:ext cx="1645920" cy="2404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Dispatch, track, acknowledge, escalate and close.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1600200"/>
            <a:ext cx="2011680" cy="3063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5208" y="1600200"/>
            <a:ext cx="64008" cy="30632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6376" y="1746504"/>
            <a:ext cx="1664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A38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148840"/>
            <a:ext cx="1645920" cy="2404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Preserve timelines, outcomes, evidence and after-action insights.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042416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MVP success criterion: one authoritative operational picture with traceable actions—not feature breadth.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Design principle: offline-tolerant, role-aware, auditable, interoperable and extensible.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MVP boundary: what must be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strongest additions to the earlier IDRM concept are operational controls around the core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4008" cy="19202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Incident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Incident record, severity, status, commander, objectives, operating period,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19202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Common Operational Picture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Map + incident layers + people/resources + status +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9202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Tasking &amp;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74519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Create → assign → acknowledge → execute → verify → close.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9202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80390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Resource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06240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People, vehicles, equipment, shelters, supplies, availability and movement.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65760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657600"/>
            <a:ext cx="64008" cy="19202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80390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Comms &amp;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206240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Broadcasts, targeted messages, acknowledgements, escalation and templates.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657600"/>
            <a:ext cx="3429000" cy="19202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657600"/>
            <a:ext cx="64008" cy="192024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80390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Evidence &amp;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206240"/>
            <a:ext cx="3063240" cy="1261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Immutable event history, attachments, provenance, export and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PRD → measurable MVP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Convert the product vision into testable operational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32588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Incident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325880"/>
            <a:ext cx="45720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Create/triage an incident in &lt;2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25880"/>
            <a:ext cx="48006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Functional +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47672"/>
            <a:ext cx="1325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Situation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947672"/>
            <a:ext cx="4572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See current incident state on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947672"/>
            <a:ext cx="4800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UX + data freshness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9464"/>
            <a:ext cx="132588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569464"/>
            <a:ext cx="45720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Assign and acknowledge critical task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569464"/>
            <a:ext cx="48006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Workflow + 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91256"/>
            <a:ext cx="1325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191256"/>
            <a:ext cx="4572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Know availability/location/status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191256"/>
            <a:ext cx="4800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Data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13048"/>
            <a:ext cx="132588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813048"/>
            <a:ext cx="45720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Broadcast + acknowledgement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813048"/>
            <a:ext cx="48006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Reliability +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13258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434840"/>
            <a:ext cx="4572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Least privilege + MFA + audit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4434840"/>
            <a:ext cx="48006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56632"/>
            <a:ext cx="132588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A30"/>
                </a:solidFill>
                <a:latin typeface="Aptos"/>
              </a:defRPr>
            </a:pPr>
            <a:r>
              <a:t>Resilience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5056632"/>
            <a:ext cx="45720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2A30"/>
                </a:solidFill>
                <a:latin typeface="Aptos"/>
              </a:defRPr>
            </a:pPr>
            <a:r>
              <a:t>Recover service/data after failure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5056632"/>
            <a:ext cx="4800600" cy="512064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1F2A30"/>
                </a:solidFill>
                <a:latin typeface="Aptos"/>
              </a:defRPr>
            </a:pPr>
            <a:r>
              <a:t>DR +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Vision &amp;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Build for the first 15 minutes of uncertainty—and the last hour of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12801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Operational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83080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Every screen answers: what happened, where, who owns it, what next?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64008" cy="12801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80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Single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83080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Canonical incident/task/resource states; derived views elsewhere.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64008" cy="128016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809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383280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Automation recommends, routes and alerts; authorized people decide.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8346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834640"/>
            <a:ext cx="64008" cy="128016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9809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Interoperability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83280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REST/event interfaces, GeoJSON, standards-friendly identifiers.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64008" cy="128016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5811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Resilience over elegance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983479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Degraded-mode behavior is a first-class requirement.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434840"/>
            <a:ext cx="5166360" cy="12801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434840"/>
            <a:ext cx="64008" cy="128016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5811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Evidence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983479"/>
            <a:ext cx="480060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Actions, state changes and critical communications are traceable.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Stakeholders &amp; operating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MVP must support a multi-agency operating model without forcing one organization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74519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Incident Commander • Operations • Planning • Logistics •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Responders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74519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Police • Fire • EMS • Search &amp; Rescue • Field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2588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325880"/>
            <a:ext cx="64008" cy="182880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47218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Government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74519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District/state • local administration • emergency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64008" cy="182880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1246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14800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Hospitals • shelters • NGOs • utilities • transport • volunteers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64008" cy="182880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71246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Public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14800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Citizens • reporters • affected communities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566160"/>
            <a:ext cx="342900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3566160"/>
            <a:ext cx="64008" cy="182880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71246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14800"/>
            <a:ext cx="306324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IAM • GIS • data • DevOps • security • service desk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Business domains &amp; capability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Organize around capabilities, not technology components.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64008" cy="160020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Incident</a:t>
            </a:r>
            <a:br/>
            <a: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65960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41732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417320"/>
            <a:ext cx="64008" cy="160020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56362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Situation</a:t>
            </a:r>
            <a:br/>
            <a:r>
              <a:t>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965960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41732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64008" cy="160020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56362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People &amp;</a:t>
            </a:r>
            <a:br/>
            <a:r>
              <a:t>Organizations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965960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41732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417320"/>
            <a:ext cx="64008" cy="160020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56362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Tasking &amp;</a:t>
            </a:r>
            <a:br/>
            <a:r>
              <a:t>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965960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2900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64008" cy="160020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575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Resources &amp;</a:t>
            </a:r>
            <a:br/>
            <a:r>
              <a:t>Logistics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977639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42900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429000"/>
            <a:ext cx="64008" cy="160020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3575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Communications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977639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42900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3429000"/>
            <a:ext cx="64008" cy="160020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575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GIS &amp;</a:t>
            </a:r>
            <a:br/>
            <a:r>
              <a:t>Geospatial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977639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3429000"/>
            <a:ext cx="2578608" cy="16002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704" y="3429000"/>
            <a:ext cx="64008" cy="160020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575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Evidence,</a:t>
            </a:r>
            <a:br/>
            <a:r>
              <a:t>Audit &amp;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3977639"/>
            <a:ext cx="2212848" cy="941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MVP capability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Disaster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closed-loop lifecycle keeps response connected to preparedness and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Prepare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55509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20101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72691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37283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Assess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9873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54465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07054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71646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Stabilize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24236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88828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Recover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41418" y="230886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6010" y="1965960"/>
            <a:ext cx="1452589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10515600" cy="2011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MVP depth: Detect → Assess → Respond → Stabilize, with minimum viable recovery and after-action capture.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Preparedness inputs: plans, contacts, resources, templates and geofences should already exist before an incident.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Learning loop: incident timeline + outcomes + unmet needs → after-action review → updated plans/readiness.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modular monolith or small service set is sufficient for MVP; preserve clear seams for evolution.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143000"/>
            <a:ext cx="10287000" cy="566928"/>
          </a:xfrm>
          <a:prstGeom prst="roundRect">
            <a:avLst/>
          </a:prstGeom>
          <a:solidFill>
            <a:srgbClr val="182A38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Experience  —  Web portal • responsive field UI • command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01952"/>
            <a:ext cx="10287000" cy="566928"/>
          </a:xfrm>
          <a:prstGeom prst="roundRect">
            <a:avLst/>
          </a:prstGeom>
          <a:solidFill>
            <a:srgbClr val="2B6970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API &amp; Access  —  API gateway • BFF • validation • rate limits • idempotency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60904"/>
            <a:ext cx="10287000" cy="566928"/>
          </a:xfrm>
          <a:prstGeom prst="roundRect">
            <a:avLst/>
          </a:prstGeom>
          <a:solidFill>
            <a:srgbClr val="53898C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Domain  —  Incident • Task • Resource • GIS • Comms •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19856"/>
            <a:ext cx="10287000" cy="566928"/>
          </a:xfrm>
          <a:prstGeom prst="roundRect">
            <a:avLst/>
          </a:prstGeom>
          <a:solidFill>
            <a:srgbClr val="70897D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Integration  —  Event bus • notification adapters • external agency interfaces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78808"/>
            <a:ext cx="10287000" cy="566928"/>
          </a:xfrm>
          <a:prstGeom prst="round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A30"/>
                </a:solidFill>
                <a:latin typeface="Aptos"/>
              </a:defRPr>
            </a:pPr>
            <a:r>
              <a:t>Data  —  PostgreSQL/PostGIS • object storage • cache • search/read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37759"/>
            <a:ext cx="10287000" cy="566928"/>
          </a:xfrm>
          <a:prstGeom prst="roundRect">
            <a:avLst/>
          </a:prstGeom>
          <a:solidFill>
            <a:srgbClr val="DDD6C5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2A30"/>
                </a:solidFill>
                <a:latin typeface="Aptos"/>
              </a:defRPr>
            </a:pPr>
            <a:r>
              <a:t>Platform  —  Containers • CI/CD • secrets • observability • backup/DR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Layered view: 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Make security boundaries explicit instead of assuming the network is trusted.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80160"/>
            <a:ext cx="25146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64008" cy="429768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26463"/>
            <a:ext cx="21671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38"/>
                </a:solidFill>
                <a:latin typeface="Aptos"/>
              </a:defRPr>
            </a:pPr>
            <a:r>
              <a:t>Public / Untrusted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21488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Citizen reports</a:t>
            </a:r>
            <a:br/>
            <a:r>
              <a:t>Public information</a:t>
            </a:r>
            <a:br/>
            <a:r>
              <a:t>External integrations</a:t>
            </a:r>
            <a:br/>
            <a:r>
              <a:t>Internet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5146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64008" cy="429768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26463"/>
            <a:ext cx="21671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38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828800"/>
            <a:ext cx="21488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WAF / reverse proxy</a:t>
            </a:r>
            <a:br/>
            <a:r>
              <a:t>TLS termination</a:t>
            </a:r>
            <a:br/>
            <a:r>
              <a:t>Rate limiting</a:t>
            </a:r>
            <a:br/>
            <a:r>
              <a:t>Input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280160"/>
            <a:ext cx="25146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280160"/>
            <a:ext cx="64008" cy="429768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426463"/>
            <a:ext cx="21671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38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828800"/>
            <a:ext cx="21488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OIDC/OAuth 2.1 + PKCE</a:t>
            </a:r>
            <a:br/>
            <a:r>
              <a:t>RBAC/ABAC</a:t>
            </a:r>
            <a:br/>
            <a:r>
              <a:t>Workflow rules</a:t>
            </a:r>
            <a:br/>
            <a:r>
              <a:t>Audit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280160"/>
            <a:ext cx="25146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280160"/>
            <a:ext cx="64008" cy="429768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1426463"/>
            <a:ext cx="21671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A38"/>
                </a:solidFill>
                <a:latin typeface="Aptos"/>
              </a:defRPr>
            </a:pPr>
            <a:r>
              <a:t>Data /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828800"/>
            <a:ext cx="21488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PostGIS</a:t>
            </a:r>
            <a:br/>
            <a:r>
              <a:t>Object storage</a:t>
            </a:r>
            <a:br/>
            <a:r>
              <a:t>Secrets</a:t>
            </a:r>
            <a:br/>
            <a:r>
              <a:t>Backups +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Functional view: critical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Prioritize journeys that create operational value end-to-end.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83080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Report → triage →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64008" cy="12344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80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83080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Incident → assess → assign commander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07208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07208"/>
            <a:ext cx="64008" cy="12344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53512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355848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Need → task → dispatch → acknowledge →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807208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807208"/>
            <a:ext cx="64008" cy="12344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953512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55848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Resource → allocate → move → arrive → release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79976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79976"/>
            <a:ext cx="64008" cy="12344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526280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928616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Alert → broadcast → acknowledge → escalate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379976"/>
            <a:ext cx="516636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379976"/>
            <a:ext cx="64008" cy="123444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526280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J6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928616"/>
            <a:ext cx="480060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1F2A30"/>
                </a:solidFill>
                <a:latin typeface="Aptos"/>
              </a:defRPr>
            </a:pPr>
            <a:r>
              <a:t>Incident → timeline → evidence →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MVP modules &amp; explicit non-goals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small coherent core beats a sprawling “smart city”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8930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IAM &amp; Organizations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9164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8930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Incident &amp;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4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4300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28930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GIS / COP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69164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37744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37744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52374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Tasking &amp; 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92608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37744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237744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252374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Resources &amp; Logistics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292608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37744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377440"/>
            <a:ext cx="64008" cy="9601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252374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Comms &amp;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92608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1188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11880"/>
            <a:ext cx="64008" cy="96012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75818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Evidence &amp;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16052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61188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3611880"/>
            <a:ext cx="64008" cy="96012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375818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Reports &amp;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416052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611880"/>
            <a:ext cx="347472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611880"/>
            <a:ext cx="64008" cy="96012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8" y="375818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Admin / Configuration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4160520"/>
            <a:ext cx="310896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892040"/>
            <a:ext cx="10972800" cy="9601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892040"/>
            <a:ext cx="64008" cy="96012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038344"/>
            <a:ext cx="10625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A38"/>
                </a:solidFill>
                <a:latin typeface="Aptos"/>
              </a:defRPr>
            </a:pPr>
            <a:r>
              <a:t>Defer / avoid in MVP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440679"/>
            <a:ext cx="10607040" cy="301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Autonomous decision-making • full predictive optimization • nationwide master-data federation • complex billing/finance • bespoke mobile apps for every agency • microservices for their own sake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Data flow: event → operational state →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Separate transactional truth from derived views and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88166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52758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Validate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92285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6877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Authorize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96404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60996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Persist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00523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65115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Publish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04642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69234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Project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08761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73353" y="1828800"/>
            <a:ext cx="1439526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54680"/>
            <a:ext cx="1060704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Inputs: portal forms, GIS layers, responder updates, alerts, integrations.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Transactional DB is authoritative for incident/task/resource state.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Events feed notifications, COP read models, analytics and audit projections.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Idempotency keys + correlation IDs prevent duplicate or untraceable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Packet /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concrete request path makes security, observability and failure handling testable.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Browser / Field UI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0497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55089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TLS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4106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8698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Gateway / WAF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7715" y="2171700"/>
            <a:ext cx="164591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42307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API / BFF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1324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5916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Domain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64933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29524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PostGIS / DB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08541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73134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Event bus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52151" y="2171700"/>
            <a:ext cx="164591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6742" y="1828800"/>
            <a:ext cx="1279017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Notification / 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154680"/>
            <a:ext cx="1060704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Every request carries: authenticated subject, tenant/org context, correlation ID, request ID and idempotency key where applicable.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Every response exposes stable error semantics; sensitive details never leak through errors.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Telemetry: traces across gateway → domain → data → downstream adapters.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Workflow &amp; state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State transitions are business rules, not UI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NEW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16480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1071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TRIAGED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57471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22064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ACTIVE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98464" y="2171700"/>
            <a:ext cx="164591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63055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STABILIZING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39455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4047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RESOLVED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80448" y="21717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45040" y="1828800"/>
            <a:ext cx="1676400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1042416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Incident: only authorized roles can transition state; closure requires minimum closure evidence.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Task: CREATED → ASSIGNED → ACKNOWLEDGED → IN_PROGRESS → VERIFIED → CLOSED; EXPIRED/CANCELLED are explicit paths.</a:t>
            </a:r>
          </a:p>
          <a:p>
            <a:pPr>
              <a:spcAft>
                <a:spcPts val="800"/>
              </a:spcAft>
              <a:defRPr sz="1300" b="0">
                <a:solidFill>
                  <a:srgbClr val="1F2A30"/>
                </a:solidFill>
                <a:latin typeface="Aptos"/>
              </a:defRPr>
            </a:pPr>
            <a:r>
              <a:t>Critical transitions emit audit events and may trigger notifications/escalation.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Database: minimum viable domain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PostgreSQL + PostGIS is a strong MVP fit for transactional + geospatial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64008" cy="109728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33502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73736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18872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188720"/>
            <a:ext cx="64008" cy="109728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33502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User /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73736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18872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188720"/>
            <a:ext cx="64008" cy="109728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33502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Incident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73736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18872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88720"/>
            <a:ext cx="64008" cy="109728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33502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IncidentLocation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73736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0604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606040"/>
            <a:ext cx="64008" cy="109728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275234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15468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260604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2606040"/>
            <a:ext cx="64008" cy="109728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275234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15468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60604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2606040"/>
            <a:ext cx="64008" cy="109728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275234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15468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260604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704" y="2606040"/>
            <a:ext cx="64008" cy="109728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275234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315468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02336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023360"/>
            <a:ext cx="64008" cy="109728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416966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Attachment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457200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5848" y="402336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55848" y="4023360"/>
            <a:ext cx="64008" cy="109728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7016" y="416966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AuditEvent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7016" y="457200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4023360"/>
            <a:ext cx="2560320" cy="10972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776" y="4023360"/>
            <a:ext cx="64008" cy="109728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9944" y="4169664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Plan / Template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9944" y="4572000"/>
            <a:ext cx="219456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Canonical entity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394960"/>
            <a:ext cx="10789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F2A30"/>
                </a:solidFill>
                <a:latin typeface="Aptos"/>
              </a:defRPr>
            </a:pPr>
            <a:r>
              <a:t>Indexes: incident status/severity/time; spatial indexes for geometry; foreign-key integrity; optimistic locking/version fields.</a:t>
            </a:r>
          </a:p>
          <a:p>
            <a:pPr>
              <a:spcAft>
                <a:spcPts val="800"/>
              </a:spcAft>
              <a:defRPr sz="1100" b="0">
                <a:solidFill>
                  <a:srgbClr val="1F2A30"/>
                </a:solidFill>
                <a:latin typeface="Aptos"/>
              </a:defRPr>
            </a:pPr>
            <a:r>
              <a:t>Attachments belong in object storage; DB stores metadata, hashes, classification and retention policy.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Security is part of the MVP acceptance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2344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916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OIDC + OAuth 2.1 with PKCE; MFA for privileged roles; short-lived access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64008" cy="12344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916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RBAC baseline + contextual checks for organization, incident, geography and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15768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715768"/>
            <a:ext cx="64008" cy="12344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86207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264408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TLS in transit; encryption at rest; secrets manager; least-privilege DB roles.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15768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15768"/>
            <a:ext cx="64008" cy="12344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86207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64408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OWASP-aligned input validation, CSRF/XSS protection where applicable, rate limits, secure headers.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88536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288536"/>
            <a:ext cx="64008" cy="12344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43484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37175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Who/what/when/where/result; privileged actions and critical state transitions.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288536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288536"/>
            <a:ext cx="64008" cy="123444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43484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837175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Data minimization, retention, classification, export/deletion procedures as applicable.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Testing strategy &amp; release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Test the operational contract, not only code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64008" cy="15087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Domain rules, validation, authorization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143000"/>
            <a:ext cx="64008" cy="15087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API /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Schemas, idempotency, error semantics, compatibility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143000"/>
            <a:ext cx="64008" cy="150876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DB, object store, event bus, notification adapters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43000"/>
            <a:ext cx="64008" cy="150876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E2E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Critical incident/task/resource journeys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971800"/>
            <a:ext cx="64008" cy="150876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SAST, dependency scan, DAST, authZ tests, secrets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2971800"/>
            <a:ext cx="64008" cy="150876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Resilience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Timeouts, retries, duplicate events, degraded dependencies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2971800"/>
            <a:ext cx="64008" cy="15087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Concurrent users, map queries, critical writes, alert fan-out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61704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704" y="2971800"/>
            <a:ext cx="64008" cy="15087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UAT / Drill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Scenario-based exercises with responders and command roles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CI/CD &amp; supply-chain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Every deploy should be reproducible, attributable and reversible.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Commit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16202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80793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Lint /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76956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1548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SAST / SCA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37710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2301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Build Image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3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63055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Scan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9217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23810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Deploy Staging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9972" y="1943100"/>
            <a:ext cx="164592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84563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UAT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80726" y="1943100"/>
            <a:ext cx="164591" cy="0"/>
          </a:xfrm>
          <a:prstGeom prst="line">
            <a:avLst/>
          </a:prstGeom>
          <a:ln w="19050">
            <a:solidFill>
              <a:srgbClr val="2B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45317" y="1600200"/>
            <a:ext cx="1296162" cy="685800"/>
          </a:xfrm>
          <a:prstGeom prst="roundRect">
            <a:avLst/>
          </a:prstGeom>
          <a:solidFill>
            <a:srgbClr val="EFF4F4"/>
          </a:solidFill>
          <a:ln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A38"/>
                </a:solidFill>
                <a:latin typeface="Aptos"/>
              </a:defRPr>
            </a:pPr>
            <a:r>
              <a:t>Promote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1069848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1F2A30"/>
                </a:solidFill>
                <a:latin typeface="Aptos"/>
              </a:defRPr>
            </a:pPr>
            <a:r>
              <a:t>Pin dependencies; generate SBOM; sign/verify artifacts where practical; protect main branch.</a:t>
            </a:r>
          </a:p>
          <a:p>
            <a:pPr>
              <a:spcAft>
                <a:spcPts val="800"/>
              </a:spcAft>
              <a:defRPr sz="1250" b="0">
                <a:solidFill>
                  <a:srgbClr val="1F2A30"/>
                </a:solidFill>
                <a:latin typeface="Aptos"/>
              </a:defRPr>
            </a:pPr>
            <a:r>
              <a:t>Environment configuration is externalized; secrets never live in source control.</a:t>
            </a:r>
          </a:p>
          <a:p>
            <a:pPr>
              <a:spcAft>
                <a:spcPts val="800"/>
              </a:spcAft>
              <a:defRPr sz="1250" b="0">
                <a:solidFill>
                  <a:srgbClr val="1F2A30"/>
                </a:solidFill>
                <a:latin typeface="Aptos"/>
              </a:defRPr>
            </a:pPr>
            <a:r>
              <a:t>Database migrations are versioned, forward-safe and tested before production promotion.</a:t>
            </a:r>
          </a:p>
          <a:p>
            <a:pPr>
              <a:spcAft>
                <a:spcPts val="800"/>
              </a:spcAft>
              <a:defRPr sz="1250" b="0">
                <a:solidFill>
                  <a:srgbClr val="1F2A30"/>
                </a:solidFill>
                <a:latin typeface="Aptos"/>
              </a:defRPr>
            </a:pPr>
            <a:r>
              <a:t>Rollback strategy: application rollback + compatible schema strategy + feature flags.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Deployment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Start simple: one production boundary, clear trust zones, managed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33172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429768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80744"/>
            <a:ext cx="1984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Internet /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83080"/>
            <a:ext cx="196596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Browser</a:t>
            </a:r>
            <a:br/>
            <a:r>
              <a:t>Field device</a:t>
            </a:r>
            <a:br/>
            <a:r>
              <a:t>External agencies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234440"/>
            <a:ext cx="233172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234440"/>
            <a:ext cx="64008" cy="429768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380744"/>
            <a:ext cx="1984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783080"/>
            <a:ext cx="196596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DNS</a:t>
            </a:r>
            <a:br/>
            <a:r>
              <a:t>WAF / reverse proxy</a:t>
            </a:r>
            <a:br/>
            <a:r>
              <a:t>TLS</a:t>
            </a:r>
            <a:br/>
            <a:r>
              <a:t>Rate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234440"/>
            <a:ext cx="27432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234440"/>
            <a:ext cx="64008" cy="429768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380744"/>
            <a:ext cx="23957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1783080"/>
            <a:ext cx="23774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Web / BFF</a:t>
            </a:r>
            <a:br/>
            <a:r>
              <a:t>API</a:t>
            </a:r>
            <a:br/>
            <a:r>
              <a:t>Worker / scheduler</a:t>
            </a:r>
            <a:br/>
            <a:r>
              <a:t>Event handling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234440"/>
            <a:ext cx="2743200" cy="429768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1234440"/>
            <a:ext cx="64008" cy="429768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1380744"/>
            <a:ext cx="23957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Data /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1783080"/>
            <a:ext cx="2377440" cy="3639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1F2A30"/>
                </a:solidFill>
                <a:latin typeface="Aptos"/>
              </a:defRPr>
            </a:pPr>
            <a:r>
              <a:t>PostgreSQL/PostGIS</a:t>
            </a:r>
            <a:br/>
            <a:r>
              <a:t>Object storage</a:t>
            </a:r>
            <a:br/>
            <a:r>
              <a:t>Cache</a:t>
            </a:r>
            <a:br/>
            <a:r>
              <a:t>Email/SMS/push</a:t>
            </a:r>
            <a:br/>
            <a:r>
              <a:t>GIS adapters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Monitoring, observability &amp; SLOs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Operational visibility must detect silent failure—not only server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2344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Golden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916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Latency • traffic • errors • saturation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64008" cy="12344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Domain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916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Open critical incidents • overdue tasks • unacknowledged alerts • resource shortages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15768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715768"/>
            <a:ext cx="64008" cy="12344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86207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Data freshness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264408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COP freshness • location update lag • integration 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15768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15768"/>
            <a:ext cx="64008" cy="12344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86207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Audit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64408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Missing events • failed exports • clock skew / time-sync 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88536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288536"/>
            <a:ext cx="64008" cy="12344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43484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SLO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37175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API availability • critical alert delivery • task acknowledgement latency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288536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288536"/>
            <a:ext cx="64008" cy="123444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43484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Incident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837175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Alert → triage → incident → mitigation → postmortem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Operations &amp; 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Disaster-response software must itself survive disruption.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8074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Backups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8308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Automated, encrypted, monitored; restore tests—not merely backup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64008" cy="182880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38074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RTO / RPO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78308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Define per capability; document degraded-mode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23444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234440"/>
            <a:ext cx="64008" cy="182880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38074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78308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Separate failure domain; tested restore/runbook; DNS/traffic recovery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474720"/>
            <a:ext cx="64008" cy="182880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62102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Offline / poor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02336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Queue field updates where safe; show stale-data state explicitly.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7472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474720"/>
            <a:ext cx="64008" cy="182880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62102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Change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02336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Versioned releases, approvals for high-risk changes, rollback.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474720"/>
            <a:ext cx="3383280" cy="182880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3474720"/>
            <a:ext cx="64008" cy="182880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3621024"/>
            <a:ext cx="30358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Runbooks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4023360"/>
            <a:ext cx="3017520" cy="1170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Incident, database failure, notification failure, GIS outage, credential compromise.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Roles &amp; ownership across the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MVP needs explicit ownership for every operationally important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64008" cy="1874519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24358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4591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PRD, priorities, acceptance criteria,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09728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097280"/>
            <a:ext cx="64008" cy="1874519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24358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Incident /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64591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Workflows, policies, state transitions, drills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09728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1097280"/>
            <a:ext cx="64008" cy="1874519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24358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64591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NFRs, boundaries, ADRs, integration contracts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109728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5" y="1097280"/>
            <a:ext cx="64008" cy="1874519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124358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164591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Implementation, code quality, migrations, fixes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7" y="109728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5207" y="1097280"/>
            <a:ext cx="64008" cy="1874519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6376" y="124358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164591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Threat model, IAM, controls, security testing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42900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429000"/>
            <a:ext cx="64008" cy="1874519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57530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QA / SDET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397763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Test strategy, automation, release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24912" y="342900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24912" y="3429000"/>
            <a:ext cx="64008" cy="1874519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57530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DevOps / SRE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7763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CI/CD, runtime, observability, DR, reliability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38344" y="342900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38344" y="3429000"/>
            <a:ext cx="64008" cy="1874519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357530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Data / GIS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397763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Data quality, PostGIS, geospatial layers, lineage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51775" y="342900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51775" y="3429000"/>
            <a:ext cx="64008" cy="1874519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52944" y="357530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UX / Accessibility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2944" y="397763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Task flows, field usability, WCAG conformance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65207" y="3429000"/>
            <a:ext cx="2148840" cy="1874519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65207" y="3429000"/>
            <a:ext cx="64008" cy="1874519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66376" y="3575304"/>
            <a:ext cx="1801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2A38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3977639"/>
            <a:ext cx="1783080" cy="12161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50">
                <a:solidFill>
                  <a:srgbClr val="1F2A30"/>
                </a:solidFill>
                <a:latin typeface="Aptos"/>
              </a:defRPr>
            </a:pPr>
            <a:r>
              <a:t>Runbooks, support, incident escalation,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RACI-style ownership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One accountable owner per capability; shared responsibility does not mean shared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194560" cy="502920"/>
          </a:xfrm>
          <a:prstGeom prst="rect">
            <a:avLst/>
          </a:prstGeom>
          <a:solidFill>
            <a:srgbClr val="182A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88720"/>
            <a:ext cx="1463040" cy="502920"/>
          </a:xfrm>
          <a:prstGeom prst="rect">
            <a:avLst/>
          </a:prstGeom>
          <a:solidFill>
            <a:srgbClr val="182A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188720"/>
            <a:ext cx="1463040" cy="502920"/>
          </a:xfrm>
          <a:prstGeom prst="rect">
            <a:avLst/>
          </a:prstGeom>
          <a:solidFill>
            <a:srgbClr val="182A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1463040" cy="502920"/>
          </a:xfrm>
          <a:prstGeom prst="rect">
            <a:avLst/>
          </a:prstGeom>
          <a:solidFill>
            <a:srgbClr val="182A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188720"/>
            <a:ext cx="4069080" cy="502920"/>
          </a:xfrm>
          <a:prstGeom prst="rect">
            <a:avLst/>
          </a:prstGeom>
          <a:solidFill>
            <a:srgbClr val="182A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19072"/>
            <a:ext cx="219456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Incident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7190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Product / Domain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7190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Eng + QA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7190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Security +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719072"/>
            <a:ext cx="406908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PRD + tests +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04872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4048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4048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4048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Product + Domain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2404872"/>
            <a:ext cx="4069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IAM config + access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219456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GIS / COP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906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0906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Data/GIS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0906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Ops + 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3090672"/>
            <a:ext cx="406908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layer catalog + freshness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76472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Tasking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7764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7764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Eng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7764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QA + 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3776472"/>
            <a:ext cx="4069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workflow tests + 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62272"/>
            <a:ext cx="219456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Deployments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4622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4622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462272"/>
            <a:ext cx="146304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Security + QA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4462272"/>
            <a:ext cx="4069080" cy="621792"/>
          </a:xfrm>
          <a:prstGeom prst="rect">
            <a:avLst/>
          </a:prstGeom>
          <a:solidFill>
            <a:srgbClr val="EFF4F4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pipeline + artifact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148072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DR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51480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51480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14807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Security + Product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5148072"/>
            <a:ext cx="4069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1F2A30"/>
                </a:solidFill>
                <a:latin typeface="Aptos"/>
              </a:defRPr>
            </a:pPr>
            <a:r>
              <a:t>restore drill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3620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B6A70"/>
                </a:solidFill>
                <a:latin typeface="Aptos"/>
              </a:defRPr>
            </a:pPr>
            <a:r>
              <a:t>Validation basis: W3C WCAG 2.2 • NIST CSF 2.0 • NIST SP 800-63B-4 • ISO 22320:2018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Compatibility, compliance &amp; conformance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Treat these as design inputs and evidence obligations—not decorative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0515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WCAG 2.2 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9164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Contrast, resize, keyboard, focus, labels, status messaging, non-color cues.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64008" cy="10515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893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9164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OIDC/OAuth 2.1 + PKCE; use current NIST SP 800-63B-4 where applicable.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6888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468880"/>
            <a:ext cx="64008" cy="105156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61518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01752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NIST CSF 2.0 outcomes mapped to controls and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6888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68880"/>
            <a:ext cx="64008" cy="105156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61518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Incident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01752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Align terminology/process with ISO 22320:2018 where applicable.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9476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94760"/>
            <a:ext cx="64008" cy="105156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94106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Geospatial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34340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GeoJSON / OGC-compatible patterns; coordinate reference and accuracy metadata.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79476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64008" cy="105156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94106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Privacy /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343400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Jurisdiction-specific privacy, retention, records and accessibility requirements.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20640"/>
            <a:ext cx="5212080" cy="10515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64008" cy="10515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26694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Interoperability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5669279"/>
            <a:ext cx="4846320" cy="3931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Versioned APIs, schema contracts, correlation IDs, export formats.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MVP acceptance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feature is not “done” until operational, security and evidence criteria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64008" cy="15087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Critical journeys pass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143000"/>
            <a:ext cx="64008" cy="15087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AuthN/AuthZ + abuse cases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143000"/>
            <a:ext cx="64008" cy="150876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Integrity, migration, backup/restore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11430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1143000"/>
            <a:ext cx="64008" cy="150876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2893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6916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WCAG 2.2 AA target for user-facing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971800"/>
            <a:ext cx="64008" cy="150876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Critical APIs and map queries meet agreed SLOs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2971800"/>
            <a:ext cx="64008" cy="150876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Failure/timeout/retry behavior tested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971800"/>
            <a:ext cx="64008" cy="150876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Critical actions reconstructable from event trail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07424" y="2971800"/>
            <a:ext cx="2578608" cy="150876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7424" y="2971800"/>
            <a:ext cx="64008" cy="150876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311810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520440"/>
            <a:ext cx="2212848" cy="8503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>
                <a:solidFill>
                  <a:srgbClr val="1F2A30"/>
                </a:solidFill>
                <a:latin typeface="Aptos"/>
              </a:defRPr>
            </a:pPr>
            <a:r>
              <a:t>Runbooks + dashboards + on-call ownership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Enterprise evolution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Do not overbuild MVP; build seams that make the next stage cheap.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103120" cy="34747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" cy="347472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63624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1737360" cy="2816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Single operational platform</a:t>
            </a:r>
            <a:br/>
            <a:r>
              <a:t>Core incident/task/resource/GIS/audit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417320"/>
            <a:ext cx="2103120" cy="34747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417320"/>
            <a:ext cx="64008" cy="347472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563624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965960"/>
            <a:ext cx="1737360" cy="2816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Multi-region / multi-agency</a:t>
            </a:r>
            <a:br/>
            <a:r>
              <a:t>Event-driven projections</a:t>
            </a:r>
            <a:br/>
            <a:r>
              <a:t>Advanced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417320"/>
            <a:ext cx="2103120" cy="34747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417320"/>
            <a:ext cx="64008" cy="347472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1563624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1965960"/>
            <a:ext cx="1737360" cy="2816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Agency federation</a:t>
            </a:r>
            <a:br/>
            <a:r>
              <a:t>Open data / partner APIs</a:t>
            </a:r>
            <a:br/>
            <a:r>
              <a:t>National/state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417320"/>
            <a:ext cx="2103120" cy="34747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1417320"/>
            <a:ext cx="64008" cy="347472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563624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1965960"/>
            <a:ext cx="1737360" cy="2816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Predictive demand</a:t>
            </a:r>
            <a:br/>
            <a:r>
              <a:t>Resource optimization</a:t>
            </a:r>
            <a:br/>
            <a:r>
              <a:t>Decision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1417320"/>
            <a:ext cx="2103120" cy="347472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1417320"/>
            <a:ext cx="64008" cy="347472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12096" y="1563624"/>
            <a:ext cx="17556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A38"/>
                </a:solidFill>
                <a:latin typeface="Aptos"/>
              </a:defRPr>
            </a:pPr>
            <a:r>
              <a:t>Institutionalize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1965960"/>
            <a:ext cx="1737360" cy="2816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1F2A30"/>
                </a:solidFill>
                <a:latin typeface="Aptos"/>
              </a:defRPr>
            </a:pPr>
            <a:r>
              <a:t>Governance</a:t>
            </a:r>
            <a:br/>
            <a:r>
              <a:t>Standards profiles</a:t>
            </a:r>
            <a:br/>
            <a:r>
              <a:t>Portfolio / resilience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4241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1F2A30"/>
                </a:solidFill>
                <a:latin typeface="Aptos"/>
              </a:defRPr>
            </a:pPr>
            <a:r>
              <a:t>Evolution rule: extract services only where scale, team autonomy, reliability or regulatory boundaries justify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Recommended MVP build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Order by operational dependency, not by technical novelty.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5156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51560"/>
            <a:ext cx="64008" cy="102412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197863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1 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60020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PRD • NFRs • threat model • UX journeys • ADRs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5156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64008" cy="102412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197863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2 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60020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Organizations • users • roles • OIDC/OAuth •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286000"/>
            <a:ext cx="64008" cy="1024128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43230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3  Incident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83464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Incident lifecycle • severity • commander • 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28600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286000"/>
            <a:ext cx="64008" cy="1024128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7" y="243230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4  COP + 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83464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Map • layers • incident locations • freshness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520440"/>
            <a:ext cx="64008" cy="1024128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666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5  Task +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6908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Assignments • dispatch • acknowledgements • allocation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52044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520440"/>
            <a:ext cx="64008" cy="1024128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366674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6  Comms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406908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Templates • targeted/broadcast • escalation • delivery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5488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754880"/>
            <a:ext cx="64008" cy="102412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90118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7 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30352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CI/CD • observability • backups • DR • runbooks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754880"/>
            <a:ext cx="5166360" cy="102412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4754880"/>
            <a:ext cx="64008" cy="102412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7" y="4901184"/>
            <a:ext cx="48188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8  Drill &amp;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7" y="530352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>
                <a:solidFill>
                  <a:srgbClr val="1F2A30"/>
                </a:solidFill>
                <a:latin typeface="Aptos"/>
              </a:defRPr>
            </a:pPr>
            <a:r>
              <a:t>Scenario tests • UAT • accessibility • security • go-live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CO-STAR-A prompt: poster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reusable prompt for generating the IDRM MVP poster.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F2A30"/>
                </a:solidFill>
                <a:latin typeface="Aptos"/>
              </a:defRPr>
            </a:pPr>
            <a:r>
              <a:t>Create a serene, sober, professional 16:9 poster titled “IDRM — Integrated Disaster Response Management (MVP)”.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Context: IDRM is an operational disaster-response platform whose MVP must create one authoritative operational picture and connect incident awareness, command, tasking, resources, GIS, communications, evidence, security and operations.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Use CO-STAR-A: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C — Context: multi-agency, all-hazards response; MVP, not a national-scale finished system.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O — Objective: communicate the minimum coherent capability set and lifecycle at a glance.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S — Style: restrained enterprise architecture aesthetic; calm teal/navy/sage/sand palette; generous whitespace; precise icons; no visual clutter.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T — Tone: calm, trustworthy, accountable, human-centered.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A — Audience: product, architecture, engineering, QA, security, DevOps/SRE, GIS/data, operations and incident leadership.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A — Accuracy / constraints: WCAG-conscious contrast; do not rely on color alone; readable at presentation size; use standards-friendly terminology; show explicit MVP boundary.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Composition: central “Operational Picture” hub with six surrounding capability groups: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1) Incident &amp; Command, 2) GIS/COP, 3) Tasking &amp; Dispatch, 4) Resources &amp; Logistics, 5) Communications &amp; Escalation, 6) Evidence/Audit/Reporting.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Place a lifecycle ribbon underneath: Detect → Assess → Respond → Stabilize → Recover → Learn.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Add a small foundation strip: IAM • Security • Data • APIs • CI/CD • Observability • DR.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Add one concise footer: “Sense → Decide → Coordinate → Act → Learn”.</a:t>
            </a:r>
          </a:p>
          <a:p>
            <a:pPr>
              <a:spcAft>
                <a:spcPts val="300"/>
              </a:spcAft>
              <a:defRPr sz="919">
                <a:solidFill>
                  <a:srgbClr val="1F2A30"/>
                </a:solidFill>
                <a:latin typeface="Aptos"/>
              </a:defRPr>
            </a:pPr>
            <a:r>
              <a:t>Avoid: cyberpunk, emergency-red overload, glossy gradients, tiny text, decorative stock imagery, ambiguous arrows, unsupported AI autonomy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51560"/>
            <a:ext cx="11109960" cy="5440680"/>
          </a:xfrm>
          <a:prstGeom prst="roundRect">
            <a:avLst/>
          </a:prstGeom>
          <a:noFill/>
          <a:ln w="12700">
            <a:solidFill>
              <a:srgbClr val="538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Poster content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poster should summarize the system, not replace the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9728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097280"/>
            <a:ext cx="64008" cy="1234440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4358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North 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45919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One authoritative operational picture.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9728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64008" cy="1234440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4358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45919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Incident • COP/GIS • Task • Resource • Comms •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06039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606039"/>
            <a:ext cx="64008" cy="1234440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75234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154679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IAM • security • data • API • CI/CD • observability • DR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606039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606039"/>
            <a:ext cx="64008" cy="1234440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75234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54679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Detect → Assess → Respond → Stabilize → Recover → Learn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148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114800"/>
            <a:ext cx="64008" cy="1234440"/>
          </a:xfrm>
          <a:prstGeom prst="rect">
            <a:avLst/>
          </a:prstGeom>
          <a:solidFill>
            <a:srgbClr val="8B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2611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6634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Human decisions • least privilege • auditability • resilience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114800"/>
            <a:ext cx="5212080" cy="1234440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114800"/>
            <a:ext cx="64008" cy="1234440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26110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A38"/>
                </a:solidFill>
                <a:latin typeface="Aptos"/>
              </a:defRPr>
            </a:pPr>
            <a:r>
              <a:t>MVP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63440"/>
            <a:ext cx="4846320" cy="5760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69">
                <a:solidFill>
                  <a:srgbClr val="1F2A30"/>
                </a:solidFill>
                <a:latin typeface="Aptos"/>
              </a:defRPr>
            </a:pPr>
            <a:r>
              <a:t>A critical incident can be reported, commanded, coordinated, executed and reconstructed end-to-end.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Final validation: 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The MVP is ready when it can survive a realistic drill, not merely a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424160" cy="4754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Product: scope, personas, workflows, acceptance criteria and non-goals are signed off.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Architecture: boundaries, data ownership, integration contracts, ADRs and failure modes are documented.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Security: threat model, IAM, authorization, secrets, logging and security tests have evidence.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Quality: critical journeys pass automated + scenario-based tests; accessibility is verified.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Operations: monitoring, SLOs, backup/restore, DR, runbooks and ownership are live.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Drill: a representative incident is created → commanded → tasked → resourced → communicated → resolved → audited.</a:t>
            </a:r>
          </a:p>
          <a:p>
            <a:pPr>
              <a:spcAft>
                <a:spcPts val="800"/>
              </a:spcAft>
              <a:defRPr sz="1500" b="0">
                <a:solidFill>
                  <a:srgbClr val="1F2A30"/>
                </a:solidFill>
                <a:latin typeface="Aptos"/>
              </a:defRPr>
            </a:pPr>
            <a:r>
              <a:t>✓ Evidence: the team can reconstruct what happened, who acted, when, why, and what remains unresolved.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3620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B6A70"/>
                </a:solidFill>
                <a:latin typeface="Aptos"/>
              </a:defRPr>
            </a:pPr>
            <a:r>
              <a:t>References: W3C WCAG 2.2; NIST CSF 2.0; NIST SP 800-63B-4; ISO 22320:2018; USFA/FEMA NIMS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References &amp; standards used for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Selected authoritative references; applicability should be confirmed for the target jurisdiction.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6984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351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W3C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91640"/>
            <a:ext cx="10332719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WCAG 2.2 — accessibility and contrast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75688"/>
            <a:ext cx="106984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75688"/>
            <a:ext cx="64008" cy="74980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21992"/>
            <a:ext cx="10351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NIST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24328"/>
            <a:ext cx="10332719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CSF 2.0 — cybersecurity risk outcomes and governance.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08376"/>
            <a:ext cx="106984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08376"/>
            <a:ext cx="64008" cy="749808"/>
          </a:xfrm>
          <a:prstGeom prst="rect">
            <a:avLst/>
          </a:prstGeom>
          <a:solidFill>
            <a:srgbClr val="70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154680"/>
            <a:ext cx="10351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57016"/>
            <a:ext cx="10332719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SP 800-63B-4 — authentication and authenticator management.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41064"/>
            <a:ext cx="106984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41064"/>
            <a:ext cx="64008" cy="749808"/>
          </a:xfrm>
          <a:prstGeom prst="rect">
            <a:avLst/>
          </a:prstGeom>
          <a:solidFill>
            <a:srgbClr val="99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87368"/>
            <a:ext cx="10351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ISO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489704"/>
            <a:ext cx="10332719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ISO 22320:2018 — emergency management / incident management guidance.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73752"/>
            <a:ext cx="106984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73752"/>
            <a:ext cx="64008" cy="749808"/>
          </a:xfrm>
          <a:prstGeom prst="rect">
            <a:avLst/>
          </a:prstGeom>
          <a:solidFill>
            <a:srgbClr val="18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020056"/>
            <a:ext cx="103510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A38"/>
                </a:solidFill>
                <a:latin typeface="Aptos"/>
              </a:defRPr>
            </a:pPr>
            <a:r>
              <a:t>FEMA / USFA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422392"/>
            <a:ext cx="10332719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50">
                <a:solidFill>
                  <a:srgbClr val="1F2A30"/>
                </a:solidFill>
                <a:latin typeface="Aptos"/>
              </a:defRPr>
            </a:pPr>
            <a:r>
              <a:t>NIMS — shared vocabulary, systems and processes for incident management.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51560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1F2A30"/>
                </a:solidFill>
                <a:latin typeface="Aptos"/>
              </a:defRPr>
            </a:pPr>
            <a:r>
              <a:t>This deck intentionally treats these as alignment references, not a claim of legal certification or formal conformance.</a:t>
            </a:r>
          </a:p>
          <a:p>
            <a:pPr>
              <a:spcAft>
                <a:spcPts val="800"/>
              </a:spcAft>
              <a:defRPr sz="950" b="0">
                <a:solidFill>
                  <a:srgbClr val="1F2A30"/>
                </a:solidFill>
                <a:latin typeface="Aptos"/>
              </a:defRPr>
            </a:pPr>
            <a:r>
              <a:t>WCAG target: AA-level practices for the user-facing application; formal conformance requires actual testing.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Appendix: minimal MVP capability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A practical backlog seed for PRD → epics → stories.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05840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15214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554480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IAM: organizations, users, roles, MFA, sessions, access review,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05840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152144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554480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Incident: create/triage/severity/commander/status/timeline/closure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38528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38528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08483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487168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COP: map, incident layers, locations, freshness/stale indicators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938528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938528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7" y="2084832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487168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Task: assignment, acknowledgement, priority, escalation,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871216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871216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01752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419856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Resource: people/vehicles/equipment, availability, allocation, movement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871216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2871216"/>
            <a:ext cx="64008" cy="749808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3017520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3419856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Comms: templates, targeted/broadcast, delivery/acknowledgement,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803904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803904"/>
            <a:ext cx="64008" cy="74980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95020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352544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Evidence: attachments, hashes/metadata, audit, export, retention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803904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803904"/>
            <a:ext cx="64008" cy="74980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7" y="3950208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7" y="4352544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Admin: taxonomies, geofences, templates, notification policies, reference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736592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736592"/>
            <a:ext cx="64008" cy="74980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4882896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5285231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Ops: health checks, metrics, traces, logs, backup/restore, DR, runbooks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736592"/>
            <a:ext cx="5212080" cy="749808"/>
          </a:xfrm>
          <a:prstGeom prst="roundRect">
            <a:avLst/>
          </a:prstGeom>
          <a:solidFill>
            <a:srgbClr val="EFF4F4"/>
          </a:solidFill>
          <a:ln w="12700">
            <a:solidFill>
              <a:srgbClr val="CA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4736592"/>
            <a:ext cx="64008" cy="749808"/>
          </a:xfrm>
          <a:prstGeom prst="rect">
            <a:avLst/>
          </a:prstGeom>
          <a:solidFill>
            <a:srgbClr val="53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7" y="4882896"/>
            <a:ext cx="4864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A3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7" y="5285231"/>
            <a:ext cx="4846320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80">
                <a:solidFill>
                  <a:srgbClr val="1F2A30"/>
                </a:solidFill>
                <a:latin typeface="Aptos"/>
              </a:defRPr>
            </a:pPr>
            <a:r>
              <a:t>Quality: contract tests, E2E drills, security, accessibility, performance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2B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38"/>
                </a:solidFill>
                <a:latin typeface="Aptos Display"/>
              </a:defRPr>
            </a:pPr>
            <a:r>
              <a:t>Reference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046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B6A70"/>
                </a:solidFill>
                <a:latin typeface="Aptos"/>
              </a:defRPr>
            </a:pPr>
            <a:r>
              <a:t>Official sources for the standards and frameworks cited in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B697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A70"/>
                </a:solidFill>
                <a:latin typeface="Aptos"/>
              </a:defRPr>
            </a:pPr>
            <a:r>
              <a:t>IDRM • Integrated Disaster Response Management • MVP  | 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6970"/>
                </a:solidFill>
                <a:latin typeface="Aptos"/>
              </a:defRPr>
            </a:pPr>
            <a:r>
              <a:rPr>
                <a:hlinkClick r:id="rId2"/>
              </a:rPr>
              <a:t>W3C WCAG 2.2  —  https://www.w3.org/TR/WCAG22/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6970"/>
                </a:solidFill>
                <a:latin typeface="Aptos"/>
              </a:defRPr>
            </a:pPr>
            <a:r>
              <a:rPr>
                <a:hlinkClick r:id="rId3"/>
              </a:rPr>
              <a:t>NIST CSF 2.0  —  https://www.nist.gov/publications/nist-cybersecurity-framework-csf-20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6970"/>
                </a:solidFill>
                <a:latin typeface="Aptos"/>
              </a:defRPr>
            </a:pPr>
            <a:r>
              <a:rPr>
                <a:hlinkClick r:id="rId4"/>
              </a:rPr>
              <a:t>NIST SP 800-63B-4  —  https://csrc.nist.gov/pubs/sp/800/63/B/4/final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6970"/>
                </a:solidFill>
                <a:latin typeface="Aptos"/>
              </a:defRPr>
            </a:pPr>
            <a:r>
              <a:rPr>
                <a:hlinkClick r:id="rId5"/>
              </a:rPr>
              <a:t>ISO 22320:2018  —  https://www.iso.org/cms/%20render/live/en/sites/isoorg/contents/data/standard/06/78/67851.html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6970"/>
                </a:solidFill>
                <a:latin typeface="Aptos"/>
              </a:defRPr>
            </a:pPr>
            <a:r>
              <a:rPr>
                <a:hlinkClick r:id="rId6"/>
              </a:rPr>
              <a:t>USFA / FEMA NIMS  —  https://www.usfa.fema.gov/a-z/nims/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