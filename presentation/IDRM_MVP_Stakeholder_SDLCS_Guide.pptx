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0F2747"/>
                </a:solidFill>
                <a:latin typeface="Aptos Display"/>
              </a:rPr>
              <a:t>IDRM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05156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0695C"/>
                </a:solidFill>
                <a:latin typeface="Aptos"/>
              </a:rPr>
              <a:t>Integrated Disaster Response Management (MVP)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99669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495869"/>
                </a:solidFill>
                <a:latin typeface="Aptos"/>
              </a:rPr>
              <a:t>Stakeholder → SDLC → Architecture → Engineering → Operations → Organizational Knowledge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886200"/>
            <a:ext cx="1920240" cy="347472"/>
          </a:xfrm>
          <a:prstGeom prst="roundRect">
            <a:avLst/>
          </a:prstGeom>
          <a:solidFill>
            <a:srgbClr val="E4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904487"/>
            <a:ext cx="19202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MASTER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34840"/>
            <a:ext cx="1069848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F2747"/>
                </a:solidFill>
                <a:latin typeface="Aptos"/>
              </a:rPr>
              <a:t>A practical documentation, role-mastery and delivery blueprint for building a credible MVP—and evolving it safely.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989320"/>
            <a:ext cx="106984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E7C8C"/>
                </a:solidFill>
                <a:latin typeface="Aptos"/>
              </a:rPr>
              <a:t>Design baseline: calm visual hierarchy • high contrast • concise content • WCAG 2.2 AA-inspired accessibility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92608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ptos"/>
              </a:rPr>
              <a:t>MVP •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Executive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10896"/>
            <a:ext cx="21945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00695C"/>
                </a:solidFill>
                <a:latin typeface="Aptos"/>
              </a:rPr>
              <a:t>0 →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What the deck validates before implementation begins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2743200" cy="4480560"/>
          </a:xfrm>
          <a:prstGeom prst="roundRect">
            <a:avLst/>
          </a:prstGeom>
          <a:solidFill>
            <a:srgbClr val="E2F1E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695C"/>
                </a:solidFill>
                <a:latin typeface="Aptos"/>
              </a:rPr>
              <a:t>WHAT MUST BE 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673352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Problem and users are explicit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84248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MVP scope has a hard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295144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Architecture decisions are recorded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606039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Security is designed, not bolted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916935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Quality gates are measurable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227831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Operations can recover the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538727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Ownership is unambiguous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1234440"/>
            <a:ext cx="3657600" cy="4480560"/>
          </a:xfrm>
          <a:prstGeom prst="roundRect">
            <a:avLst/>
          </a:prstGeom>
          <a:solidFill>
            <a:srgbClr val="E4EEF8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79" y="1325880"/>
            <a:ext cx="33832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D4E89"/>
                </a:solidFill>
                <a:latin typeface="Aptos"/>
              </a:rPr>
              <a:t>THE MINIMUM EVIDENCE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1673352"/>
            <a:ext cx="33375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Vision + PRD + stakeholder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1984248"/>
            <a:ext cx="33375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SRS / use cases + acceptance criteria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2295144"/>
            <a:ext cx="33375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Architecture + ADRs + diagrams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2606039"/>
            <a:ext cx="33375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Data model + API 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2916935"/>
            <a:ext cx="33375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Threat model + security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9312" y="3227831"/>
            <a:ext cx="33375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Test strategy + CI/CD gates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9312" y="3538727"/>
            <a:ext cx="33375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Deployment + observability + DR runbooks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9312" y="3849623"/>
            <a:ext cx="33375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Roles / RACI + decision log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1234440"/>
            <a:ext cx="4297680" cy="4480560"/>
          </a:xfrm>
          <a:prstGeom prst="roundRect">
            <a:avLst/>
          </a:prstGeom>
          <a:solidFill>
            <a:srgbClr val="EEE9F8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132588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5B468C"/>
                </a:solidFill>
                <a:latin typeface="Aptos"/>
              </a:rPr>
              <a:t>THE DELIVERY LOGIC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792" y="1673352"/>
            <a:ext cx="39776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Why → Vision / PRD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1984248"/>
            <a:ext cx="39776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Who → Stakeholders / Roles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2295144"/>
            <a:ext cx="39776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What → Domains / Requirements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2606039"/>
            <a:ext cx="39776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How → Architecture / Modules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2916935"/>
            <a:ext cx="39776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Data → Model / Flows / Contracts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3227831"/>
            <a:ext cx="39776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Trust → Security / Threats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3538727"/>
            <a:ext cx="39776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Proof → Testing / UAT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9792" y="3849623"/>
            <a:ext cx="39776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Run → Deployment / Monitoring / DR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9792" y="4160519"/>
            <a:ext cx="39776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Learn → Knowledge / Evolution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Master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Your suggested order, normalized into a coherent stakeholder-to-engineering 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1325880" cy="347472"/>
          </a:xfrm>
          <a:prstGeom prst="roundRect">
            <a:avLst/>
          </a:prstGeom>
          <a:solidFill>
            <a:srgbClr val="E4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270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695C"/>
                </a:solidFill>
                <a:latin typeface="Aptos"/>
              </a:rPr>
              <a:t>PRD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1682495"/>
            <a:ext cx="182880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39112" y="1508760"/>
            <a:ext cx="132588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39112" y="15270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Aptos"/>
              </a:rPr>
              <a:t>Vision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64991" y="1682495"/>
            <a:ext cx="182881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75304" y="1508760"/>
            <a:ext cx="1325880" cy="347472"/>
          </a:xfrm>
          <a:prstGeom prst="roundRect">
            <a:avLst/>
          </a:prstGeom>
          <a:solidFill>
            <a:srgbClr val="E4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304" y="15270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5B468C"/>
                </a:solidFill>
                <a:latin typeface="Aptos"/>
              </a:rPr>
              <a:t>Stakeholders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01184" y="1682495"/>
            <a:ext cx="182880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11496" y="1508760"/>
            <a:ext cx="132588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11496" y="15270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BE671F"/>
                </a:solidFill>
                <a:latin typeface="Aptos"/>
              </a:rPr>
              <a:t>Domains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37376" y="1682495"/>
            <a:ext cx="182880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647688" y="1508760"/>
            <a:ext cx="1325880" cy="347472"/>
          </a:xfrm>
          <a:prstGeom prst="roundRect">
            <a:avLst/>
          </a:prstGeom>
          <a:solidFill>
            <a:srgbClr val="E4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5270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2F7D4E"/>
                </a:solidFill>
                <a:latin typeface="Aptos"/>
              </a:rPr>
              <a:t>Lifecycle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73567" y="1682495"/>
            <a:ext cx="182881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83879" y="1508760"/>
            <a:ext cx="132588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15270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9D2D2D"/>
                </a:solidFill>
                <a:latin typeface="Aptos"/>
              </a:rPr>
              <a:t>Architecture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09759" y="1682495"/>
            <a:ext cx="182881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720072" y="1508760"/>
            <a:ext cx="1325880" cy="347472"/>
          </a:xfrm>
          <a:prstGeom prst="roundRect">
            <a:avLst/>
          </a:prstGeom>
          <a:solidFill>
            <a:srgbClr val="E4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20072" y="15270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695C"/>
                </a:solidFill>
                <a:latin typeface="Aptos"/>
              </a:rPr>
              <a:t>Layered View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045951" y="1682495"/>
            <a:ext cx="182881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2920" y="2194560"/>
            <a:ext cx="132588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2128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Aptos"/>
              </a:rPr>
              <a:t>Functional View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828800" y="2368296"/>
            <a:ext cx="182880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039112" y="2194560"/>
            <a:ext cx="1325880" cy="347472"/>
          </a:xfrm>
          <a:prstGeom prst="roundRect">
            <a:avLst/>
          </a:prstGeom>
          <a:solidFill>
            <a:srgbClr val="E4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39112" y="22128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5B468C"/>
                </a:solidFill>
                <a:latin typeface="Aptos"/>
              </a:rPr>
              <a:t>Modules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364991" y="2368296"/>
            <a:ext cx="182881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575304" y="2194560"/>
            <a:ext cx="132588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75304" y="22128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BE671F"/>
                </a:solidFill>
                <a:latin typeface="Aptos"/>
              </a:rPr>
              <a:t>Data Flow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901184" y="2368296"/>
            <a:ext cx="182880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111496" y="2194560"/>
            <a:ext cx="1325880" cy="347472"/>
          </a:xfrm>
          <a:prstGeom prst="roundRect">
            <a:avLst/>
          </a:prstGeom>
          <a:solidFill>
            <a:srgbClr val="E4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11496" y="22128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2F7D4E"/>
                </a:solidFill>
                <a:latin typeface="Aptos"/>
              </a:rPr>
              <a:t>Packet Flow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37376" y="2368296"/>
            <a:ext cx="182880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647688" y="2194560"/>
            <a:ext cx="132588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47688" y="22128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9D2D2D"/>
                </a:solidFill>
                <a:latin typeface="Aptos"/>
              </a:rPr>
              <a:t>Workflow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973567" y="2368296"/>
            <a:ext cx="182881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183879" y="2194560"/>
            <a:ext cx="1325880" cy="347472"/>
          </a:xfrm>
          <a:prstGeom prst="roundRect">
            <a:avLst/>
          </a:prstGeom>
          <a:solidFill>
            <a:srgbClr val="E4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79" y="22128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695C"/>
                </a:solidFill>
                <a:latin typeface="Aptos"/>
              </a:rPr>
              <a:t>Database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509759" y="2368296"/>
            <a:ext cx="182881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720072" y="2194560"/>
            <a:ext cx="132588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22128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Aptos"/>
              </a:rPr>
              <a:t>Security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1045951" y="2368296"/>
            <a:ext cx="182881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02920" y="2880360"/>
            <a:ext cx="1325880" cy="347472"/>
          </a:xfrm>
          <a:prstGeom prst="roundRect">
            <a:avLst/>
          </a:prstGeom>
          <a:solidFill>
            <a:srgbClr val="E4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28986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5B468C"/>
                </a:solidFill>
                <a:latin typeface="Aptos"/>
              </a:rPr>
              <a:t>Testing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828800" y="3054096"/>
            <a:ext cx="182880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2039112" y="2880360"/>
            <a:ext cx="132588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39112" y="28986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BE671F"/>
                </a:solidFill>
                <a:latin typeface="Aptos"/>
              </a:rPr>
              <a:t>CI/CD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364991" y="3054096"/>
            <a:ext cx="182881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3575304" y="2880360"/>
            <a:ext cx="1325880" cy="347472"/>
          </a:xfrm>
          <a:prstGeom prst="roundRect">
            <a:avLst/>
          </a:prstGeom>
          <a:solidFill>
            <a:srgbClr val="E4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75304" y="28986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2F7D4E"/>
                </a:solidFill>
                <a:latin typeface="Aptos"/>
              </a:rPr>
              <a:t>Deployment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901184" y="3054096"/>
            <a:ext cx="182880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111496" y="2880360"/>
            <a:ext cx="132588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11496" y="28986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9D2D2D"/>
                </a:solidFill>
                <a:latin typeface="Aptos"/>
              </a:rPr>
              <a:t>Monitoring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437376" y="3054096"/>
            <a:ext cx="182880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6647688" y="2880360"/>
            <a:ext cx="1325880" cy="347472"/>
          </a:xfrm>
          <a:prstGeom prst="roundRect">
            <a:avLst/>
          </a:prstGeom>
          <a:solidFill>
            <a:srgbClr val="E4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47688" y="28986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695C"/>
                </a:solidFill>
                <a:latin typeface="Aptos"/>
              </a:rPr>
              <a:t>Operations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973567" y="3054096"/>
            <a:ext cx="182881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8183879" y="2880360"/>
            <a:ext cx="132588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83879" y="28986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Aptos"/>
              </a:rPr>
              <a:t>Roles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509759" y="3054096"/>
            <a:ext cx="182881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9720072" y="2880360"/>
            <a:ext cx="1325880" cy="347472"/>
          </a:xfrm>
          <a:prstGeom prst="roundRect">
            <a:avLst/>
          </a:prstGeom>
          <a:solidFill>
            <a:srgbClr val="E4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20072" y="28986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5B468C"/>
                </a:solidFill>
                <a:latin typeface="Aptos"/>
              </a:rPr>
              <a:t>Ownership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1045951" y="3054096"/>
            <a:ext cx="182881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502920" y="3566160"/>
            <a:ext cx="132588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3584448"/>
            <a:ext cx="1325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BE671F"/>
                </a:solidFill>
                <a:latin typeface="Aptos"/>
              </a:rPr>
              <a:t>Enterprise Evolution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" y="4251960"/>
            <a:ext cx="109728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0F2747"/>
                </a:solidFill>
                <a:latin typeface="Aptos"/>
              </a:rPr>
              <a:t>Recommended reading rule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4360" y="4663440"/>
            <a:ext cx="10972800" cy="10058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495869"/>
                </a:solidFill>
                <a:latin typeface="Aptos"/>
              </a:rPr>
              <a:t>Every downstream artifact should answer to an upstream decision: requirements trace to capabilities; capabilities trace to modules; modules trace to APIs/data; controls trace to threats; tests trace to acceptance criteria; operations trace to service objectives.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Minimum document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Documents 1–4 • generate in this order; each becomes input to the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399032"/>
            <a:ext cx="594360" cy="347472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417320"/>
            <a:ext cx="594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695C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1380744"/>
            <a:ext cx="4297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2747"/>
                </a:solidFill>
                <a:latin typeface="Aptos"/>
              </a:rPr>
              <a:t>1. Vision &amp; Project Charter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764792"/>
            <a:ext cx="4297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695C"/>
                </a:solidFill>
                <a:latin typeface="Aptos"/>
              </a:rPr>
              <a:t>Why / boundaries /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30552"/>
            <a:ext cx="502920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Vision, mission, principles, objectives, success metrics, constraints, assumptions and MVP definition.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3444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28231" y="1399032"/>
            <a:ext cx="594360" cy="347472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417320"/>
            <a:ext cx="594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380744"/>
            <a:ext cx="4297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2747"/>
                </a:solidFill>
                <a:latin typeface="Aptos"/>
              </a:rPr>
              <a:t>2. PRD — Product Requirements Document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764792"/>
            <a:ext cx="4297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D4E89"/>
                </a:solidFill>
                <a:latin typeface="Aptos"/>
              </a:rPr>
              <a:t>What / for whom / why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30552"/>
            <a:ext cx="502920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Problem statement, scope, personas, functional goals, non-functional goals, user journeys, priorities and acceptance-level outcomes.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5760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3822191"/>
            <a:ext cx="594360" cy="347472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840479"/>
            <a:ext cx="594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5B468C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3803904"/>
            <a:ext cx="4297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2747"/>
                </a:solidFill>
                <a:latin typeface="Aptos"/>
              </a:rPr>
              <a:t>3. Stakeholder &amp; Governance Pack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4187952"/>
            <a:ext cx="4297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5B468C"/>
                </a:solidFill>
                <a:latin typeface="Aptos"/>
              </a:rPr>
              <a:t>Who / authority / accountability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53712"/>
            <a:ext cx="502920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Stakeholder ecosystem, RACI, decision rights, escalation paths, communication model and governance cadence.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65760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28231" y="3822191"/>
            <a:ext cx="594360" cy="347472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1" y="3840479"/>
            <a:ext cx="594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2F7D4E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803904"/>
            <a:ext cx="4297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2747"/>
                </a:solidFill>
                <a:latin typeface="Aptos"/>
              </a:rPr>
              <a:t>4. Business Domain &amp; Disaster Lifecycle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187952"/>
            <a:ext cx="4297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F7D4E"/>
                </a:solidFill>
                <a:latin typeface="Aptos"/>
              </a:rPr>
              <a:t>How the mission operates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53712"/>
            <a:ext cx="502920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Incident, resource, volunteer, GIS, communication and analytics domains mapped to preparedness, mitigation, response, recovery and resilience.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080760"/>
            <a:ext cx="109728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E7C8C"/>
                </a:solidFill>
                <a:latin typeface="Aptos"/>
              </a:rPr>
              <a:t>Validation rule: if a document does not change a decision, reduce ambiguity, establish evidence, or enable a role to act, it is probably not MVP-critical.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Minimum document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Documents 5–8 • generate in this order; each becomes input to the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399032"/>
            <a:ext cx="594360" cy="347472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417320"/>
            <a:ext cx="594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BE671F"/>
                </a:solidFill>
                <a:latin typeface="Aptos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1380744"/>
            <a:ext cx="4297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2747"/>
                </a:solidFill>
                <a:latin typeface="Aptos"/>
              </a:rPr>
              <a:t>5. SRS + Use Cases + Traceability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764792"/>
            <a:ext cx="4297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BE671F"/>
                </a:solidFill>
                <a:latin typeface="Aptos"/>
              </a:rPr>
              <a:t>What the software shall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30552"/>
            <a:ext cx="502920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Functional/non-functional requirements, use cases, business rules, acceptance criteria and requirement-to-test traceability.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3444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28231" y="1399032"/>
            <a:ext cx="594360" cy="347472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417320"/>
            <a:ext cx="594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9D2D2D"/>
                </a:solidFill>
                <a:latin typeface="Aptos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380744"/>
            <a:ext cx="4297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2747"/>
                </a:solidFill>
                <a:latin typeface="Aptos"/>
              </a:rPr>
              <a:t>6. Architecture &amp; ADR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764792"/>
            <a:ext cx="4297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9D2D2D"/>
                </a:solidFill>
                <a:latin typeface="Aptos"/>
              </a:rPr>
              <a:t>How the system is shaped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30552"/>
            <a:ext cx="502920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Context, layered/component/module views, deployment, data flow, packet flow, workflows, quality attributes and Architecture Decision Records.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5760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3822191"/>
            <a:ext cx="594360" cy="347472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840479"/>
            <a:ext cx="594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695C"/>
                </a:solidFill>
                <a:latin typeface="Aptos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3803904"/>
            <a:ext cx="4297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2747"/>
                </a:solidFill>
                <a:latin typeface="Aptos"/>
              </a:rPr>
              <a:t>7. Data &amp; API Contract Pack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4187952"/>
            <a:ext cx="4297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695C"/>
                </a:solidFill>
                <a:latin typeface="Aptos"/>
              </a:rPr>
              <a:t>How information moves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53712"/>
            <a:ext cx="502920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ERD, schema, data dictionary, retention, migration rules, API/OpenAPI contract, error model, versioning and integration boundaries.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65760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28231" y="3822191"/>
            <a:ext cx="594360" cy="347472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1" y="3840479"/>
            <a:ext cx="594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Aptos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803904"/>
            <a:ext cx="4297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2747"/>
                </a:solidFill>
                <a:latin typeface="Aptos"/>
              </a:rPr>
              <a:t>8. Security &amp; Threat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187952"/>
            <a:ext cx="4297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D4E89"/>
                </a:solidFill>
                <a:latin typeface="Aptos"/>
              </a:rPr>
              <a:t>What must be protected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53712"/>
            <a:ext cx="502920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Assets, trust boundaries, STRIDE threats, OWASP mapping, IAM/OIDC/RBAC, secrets, encryption, audit, secure data flows and mitigations.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080760"/>
            <a:ext cx="109728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E7C8C"/>
                </a:solidFill>
                <a:latin typeface="Aptos"/>
              </a:rPr>
              <a:t>Validation rule: if a document does not change a decision, reduce ambiguity, establish evidence, or enable a role to act, it is probably not MVP-critical.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Minimum document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Documents 9–12 • generate in this order; each becomes input to the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399032"/>
            <a:ext cx="594360" cy="347472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417320"/>
            <a:ext cx="594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5B468C"/>
                </a:solidFill>
                <a:latin typeface="Aptos"/>
              </a:rPr>
              <a:t>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1380744"/>
            <a:ext cx="4297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2747"/>
                </a:solidFill>
                <a:latin typeface="Aptos"/>
              </a:rPr>
              <a:t>9. UX / Accessibility Specification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764792"/>
            <a:ext cx="4297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5B468C"/>
                </a:solidFill>
                <a:latin typeface="Aptos"/>
              </a:rPr>
              <a:t>How people safely use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30552"/>
            <a:ext cx="502920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Information architecture, critical journeys, responsive states, keyboard access, labels, focus, error handling and WCAG 2.2 AA 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3444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28231" y="1399032"/>
            <a:ext cx="594360" cy="347472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417320"/>
            <a:ext cx="594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2F7D4E"/>
                </a:solidFill>
                <a:latin typeface="Aptos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380744"/>
            <a:ext cx="4297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2747"/>
                </a:solidFill>
                <a:latin typeface="Aptos"/>
              </a:rPr>
              <a:t>10. Test Strategy &amp; Quality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764792"/>
            <a:ext cx="4297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F7D4E"/>
                </a:solidFill>
                <a:latin typeface="Aptos"/>
              </a:rPr>
              <a:t>How we prove it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30552"/>
            <a:ext cx="502920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Unit, integration, API, database, contract, E2E, performance, security, UAT, environments, test data and quality gates.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5760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3822191"/>
            <a:ext cx="594360" cy="347472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840479"/>
            <a:ext cx="594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BE671F"/>
                </a:solidFill>
                <a:latin typeface="Aptos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3803904"/>
            <a:ext cx="4297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2747"/>
                </a:solidFill>
                <a:latin typeface="Aptos"/>
              </a:rPr>
              <a:t>11. CI/CD &amp; Release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4187952"/>
            <a:ext cx="4297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BE671F"/>
                </a:solidFill>
                <a:latin typeface="Aptos"/>
              </a:rPr>
              <a:t>How changes become releases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53712"/>
            <a:ext cx="502920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Branching, lint, test, coverage, security scans, artifact packaging, deployment promotion, rollback and release evidence.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65760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28231" y="3822191"/>
            <a:ext cx="594360" cy="347472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1" y="3840479"/>
            <a:ext cx="594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9D2D2D"/>
                </a:solidFill>
                <a:latin typeface="Aptos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803904"/>
            <a:ext cx="4297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2747"/>
                </a:solidFill>
                <a:latin typeface="Aptos"/>
              </a:rPr>
              <a:t>12. Deployment &amp; Operations Runbooks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187952"/>
            <a:ext cx="4297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9D2D2D"/>
                </a:solidFill>
                <a:latin typeface="Aptos"/>
              </a:rPr>
              <a:t>How we run 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53712"/>
            <a:ext cx="502920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Standalone Ubuntu/AWS deployment topology, configuration, ports, hardening, service startup, upgrades, incident response and operational checklists.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080760"/>
            <a:ext cx="109728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E7C8C"/>
                </a:solidFill>
                <a:latin typeface="Aptos"/>
              </a:rPr>
              <a:t>Validation rule: if a document does not change a decision, reduce ambiguity, establish evidence, or enable a role to act, it is probably not MVP-critical.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Minimum document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Documents 13–16 • generate in this order; each becomes input to the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399032"/>
            <a:ext cx="594360" cy="347472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417320"/>
            <a:ext cx="594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695C"/>
                </a:solidFill>
                <a:latin typeface="Aptos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1380744"/>
            <a:ext cx="4297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2747"/>
                </a:solidFill>
                <a:latin typeface="Aptos"/>
              </a:rPr>
              <a:t>13. Observability &amp; SLO Pack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764792"/>
            <a:ext cx="4297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695C"/>
                </a:solidFill>
                <a:latin typeface="Aptos"/>
              </a:rPr>
              <a:t>How we know it is healthy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30552"/>
            <a:ext cx="502920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Logs, metrics, traces, dashboards, alerts, SLI/SLO definitions, escalation paths, retention and operational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3444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28231" y="1399032"/>
            <a:ext cx="594360" cy="347472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417320"/>
            <a:ext cx="594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Aptos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380744"/>
            <a:ext cx="4297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2747"/>
                </a:solidFill>
                <a:latin typeface="Aptos"/>
              </a:rPr>
              <a:t>14. Backup / DR / Business Continuity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764792"/>
            <a:ext cx="4297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D4E89"/>
                </a:solidFill>
                <a:latin typeface="Aptos"/>
              </a:rPr>
              <a:t>How we recover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30552"/>
            <a:ext cx="502920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Backup policy, restore procedure, failover/fallback, RPO/RTO targets, DR tests, evidence and recovery ownership.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5760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3822191"/>
            <a:ext cx="594360" cy="347472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840479"/>
            <a:ext cx="594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5B468C"/>
                </a:solidFill>
                <a:latin typeface="Aptos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3803904"/>
            <a:ext cx="4297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2747"/>
                </a:solidFill>
                <a:latin typeface="Aptos"/>
              </a:rPr>
              <a:t>15. Roles / Ownership / Knowledge 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4187952"/>
            <a:ext cx="4297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5B468C"/>
                </a:solidFill>
                <a:latin typeface="Aptos"/>
              </a:rPr>
              <a:t>Who sustains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53712"/>
            <a:ext cx="502920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Job roles by SDLC, engineering ownership matrix, decision matrix, SOPs, ADR index, runbooks, FAQs, training and lessons learned.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65760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28231" y="3822191"/>
            <a:ext cx="594360" cy="347472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1" y="3840479"/>
            <a:ext cx="594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2F7D4E"/>
                </a:solidFill>
                <a:latin typeface="Aptos"/>
              </a:rPr>
              <a:t>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803904"/>
            <a:ext cx="4297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2747"/>
                </a:solidFill>
                <a:latin typeface="Aptos"/>
              </a:rPr>
              <a:t>16. Evolution Roadmap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187952"/>
            <a:ext cx="4297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F7D4E"/>
                </a:solidFill>
                <a:latin typeface="Aptos"/>
              </a:rPr>
              <a:t>How it grows safely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53712"/>
            <a:ext cx="502920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Maturity stages, technical debt, risks, capability roadmap, modernization triggers, scaling options, governance checkpoints and 10-year direction.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080760"/>
            <a:ext cx="109728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E7C8C"/>
                </a:solidFill>
                <a:latin typeface="Aptos"/>
              </a:rPr>
              <a:t>Validation rule: if a document does not change a decision, reduce ambiguity, establish evidence, or enable a role to act, it is probably not MVP-critical.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Artifact dependency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The documents form a traceable chain—not a document dump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828800"/>
            <a:ext cx="914400" cy="2011680"/>
          </a:xfrm>
          <a:prstGeom prst="roundRect">
            <a:avLst/>
          </a:prstGeom>
          <a:solidFill>
            <a:srgbClr val="E4EEF8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2029968"/>
            <a:ext cx="804672" cy="1325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F2747"/>
                </a:solidFill>
                <a:latin typeface="Aptos"/>
              </a:rPr>
              <a:t>Vision / Charter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34440" y="2834640"/>
            <a:ext cx="146303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399031" y="1828800"/>
            <a:ext cx="914400" cy="2011680"/>
          </a:xfrm>
          <a:prstGeom prst="roundRect">
            <a:avLst/>
          </a:prstGeom>
          <a:solidFill>
            <a:srgbClr val="F4F7F9"/>
          </a:solidFill>
          <a:ln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53895" y="2029968"/>
            <a:ext cx="804672" cy="1325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F2747"/>
                </a:solidFill>
                <a:latin typeface="Aptos"/>
              </a:rPr>
              <a:t>PRD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13432" y="2834640"/>
            <a:ext cx="146303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78024" y="1828800"/>
            <a:ext cx="914400" cy="2011680"/>
          </a:xfrm>
          <a:prstGeom prst="roundRect">
            <a:avLst/>
          </a:prstGeom>
          <a:solidFill>
            <a:srgbClr val="E4EEF8"/>
          </a:solidFill>
          <a:ln>
            <a:solidFill>
              <a:srgbClr val="5B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2888" y="2029968"/>
            <a:ext cx="804672" cy="1325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F2747"/>
                </a:solidFill>
                <a:latin typeface="Aptos"/>
              </a:rPr>
              <a:t>SRS + Use Cases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92424" y="2834640"/>
            <a:ext cx="146304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557016" y="1828800"/>
            <a:ext cx="914400" cy="2011680"/>
          </a:xfrm>
          <a:prstGeom prst="roundRect">
            <a:avLst/>
          </a:prstGeom>
          <a:solidFill>
            <a:srgbClr val="F4F7F9"/>
          </a:solidFill>
          <a:ln>
            <a:solidFill>
              <a:srgbClr val="BE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2029968"/>
            <a:ext cx="804672" cy="1325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F2747"/>
                </a:solidFill>
                <a:latin typeface="Aptos"/>
              </a:rPr>
              <a:t>Architecture + ADRs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71416" y="2834640"/>
            <a:ext cx="146304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36007" y="1828800"/>
            <a:ext cx="914400" cy="2011680"/>
          </a:xfrm>
          <a:prstGeom prst="roundRect">
            <a:avLst/>
          </a:prstGeom>
          <a:solidFill>
            <a:srgbClr val="E4EEF8"/>
          </a:solidFill>
          <a:ln>
            <a:solidFill>
              <a:srgbClr val="9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1" y="2029968"/>
            <a:ext cx="804672" cy="1325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F2747"/>
                </a:solidFill>
                <a:latin typeface="Aptos"/>
              </a:rPr>
              <a:t>Data + API Contracts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550407" y="2834640"/>
            <a:ext cx="146305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714999" y="1828800"/>
            <a:ext cx="914400" cy="2011680"/>
          </a:xfrm>
          <a:prstGeom prst="roundRect">
            <a:avLst/>
          </a:prstGeom>
          <a:solidFill>
            <a:srgbClr val="F4F7F9"/>
          </a:solidFill>
          <a:ln>
            <a:solidFill>
              <a:srgbClr val="2F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9863" y="2029968"/>
            <a:ext cx="804672" cy="1325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F2747"/>
                </a:solidFill>
                <a:latin typeface="Aptos"/>
              </a:rPr>
              <a:t>Threat Model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29399" y="2834640"/>
            <a:ext cx="146304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793992" y="1828800"/>
            <a:ext cx="914400" cy="2011680"/>
          </a:xfrm>
          <a:prstGeom prst="roundRect">
            <a:avLst/>
          </a:prstGeom>
          <a:solidFill>
            <a:srgbClr val="E4EEF8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48855" y="2029968"/>
            <a:ext cx="804672" cy="1325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F2747"/>
                </a:solidFill>
                <a:latin typeface="Aptos"/>
              </a:rPr>
              <a:t>Test Strategy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08392" y="2834640"/>
            <a:ext cx="146304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872983" y="1828800"/>
            <a:ext cx="914400" cy="2011680"/>
          </a:xfrm>
          <a:prstGeom prst="roundRect">
            <a:avLst/>
          </a:prstGeom>
          <a:solidFill>
            <a:srgbClr val="F4F7F9"/>
          </a:solidFill>
          <a:ln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7848" y="2029968"/>
            <a:ext cx="804672" cy="1325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F2747"/>
                </a:solidFill>
                <a:latin typeface="Aptos"/>
              </a:rPr>
              <a:t>CI/CD + Release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87384" y="2834640"/>
            <a:ext cx="146304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951976" y="1828800"/>
            <a:ext cx="914400" cy="2011680"/>
          </a:xfrm>
          <a:prstGeom prst="roundRect">
            <a:avLst/>
          </a:prstGeom>
          <a:solidFill>
            <a:srgbClr val="E4EEF8"/>
          </a:solidFill>
          <a:ln>
            <a:solidFill>
              <a:srgbClr val="5B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2029968"/>
            <a:ext cx="804672" cy="1325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F2747"/>
                </a:solidFill>
                <a:latin typeface="Aptos"/>
              </a:rPr>
              <a:t>Deployment + Ops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66376" y="2834640"/>
            <a:ext cx="146304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030967" y="1828800"/>
            <a:ext cx="914400" cy="2011680"/>
          </a:xfrm>
          <a:prstGeom prst="roundRect">
            <a:avLst/>
          </a:prstGeom>
          <a:solidFill>
            <a:srgbClr val="F4F7F9"/>
          </a:solidFill>
          <a:ln>
            <a:solidFill>
              <a:srgbClr val="BE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85832" y="2029968"/>
            <a:ext cx="804672" cy="1325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F2747"/>
                </a:solidFill>
                <a:latin typeface="Aptos"/>
              </a:rPr>
              <a:t>Observability + DR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945367" y="2834640"/>
            <a:ext cx="146305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1109959" y="1828800"/>
            <a:ext cx="914400" cy="2011680"/>
          </a:xfrm>
          <a:prstGeom prst="roundRect">
            <a:avLst/>
          </a:prstGeom>
          <a:solidFill>
            <a:srgbClr val="E4EEF8"/>
          </a:solidFill>
          <a:ln>
            <a:solidFill>
              <a:srgbClr val="9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64824" y="2029968"/>
            <a:ext cx="804672" cy="1325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F2747"/>
                </a:solidFill>
                <a:latin typeface="Aptos"/>
              </a:rPr>
              <a:t>Knowledge 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389120"/>
            <a:ext cx="109728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F2747"/>
                </a:solidFill>
                <a:latin typeface="Aptos"/>
              </a:rPr>
              <a:t>Traceability moves both ways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92040"/>
            <a:ext cx="1024128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0">
                <a:solidFill>
                  <a:srgbClr val="495869"/>
                </a:solidFill>
                <a:latin typeface="Aptos"/>
              </a:rPr>
              <a:t>Requirement → design decision → implementation → test evidence → release evidence → operational evidence → learning / change request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Architecture: the minimum complete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Use multiple complementary views; no single diagram is sufficient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143000"/>
            <a:ext cx="7955279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252728"/>
            <a:ext cx="1463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695C"/>
                </a:solidFill>
                <a:latin typeface="Aptos"/>
              </a:rPr>
              <a:t>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252728"/>
            <a:ext cx="59436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Web / mobile / accessibility / public information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856232"/>
            <a:ext cx="7955279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965960"/>
            <a:ext cx="1463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D4E89"/>
                </a:solidFill>
                <a:latin typeface="Aptos"/>
              </a:rPr>
              <a:t>Edge &amp;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965960"/>
            <a:ext cx="59436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Reverse proxy / gateway / TLS / rate limits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2569464"/>
            <a:ext cx="7955279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5B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2679192"/>
            <a:ext cx="1463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5B468C"/>
                </a:solidFill>
                <a:latin typeface="Aptos"/>
              </a:rPr>
              <a:t>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79192"/>
            <a:ext cx="59436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Flask / FastAPI / services / workers / workflows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282696"/>
            <a:ext cx="7955279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F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3392424"/>
            <a:ext cx="1463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F7D4E"/>
                </a:solidFill>
                <a:latin typeface="Aptos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392424"/>
            <a:ext cx="59436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PostgreSQL + PostGIS / Redis / object storage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995928"/>
            <a:ext cx="7955279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E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4105656"/>
            <a:ext cx="1463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BE671F"/>
                </a:solidFill>
                <a:latin typeface="Aptos"/>
              </a:rPr>
              <a:t>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105656"/>
            <a:ext cx="59436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Email/SMS / maps / weather / identity / external APIs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4709160"/>
            <a:ext cx="7955279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9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4818888"/>
            <a:ext cx="1463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9D2D2D"/>
                </a:solidFill>
                <a:latin typeface="Aptos"/>
              </a:rPr>
              <a:t>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818888"/>
            <a:ext cx="59436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95869"/>
                </a:solidFill>
                <a:latin typeface="Aptos"/>
              </a:rPr>
              <a:t>CI/CD / logs / metrics / traces / backup / DR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34440"/>
            <a:ext cx="960120" cy="3474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F2747"/>
                </a:solidFill>
                <a:latin typeface="Aptos"/>
              </a:rPr>
              <a:t>VIEWS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04120" y="1097280"/>
            <a:ext cx="150876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1115568"/>
            <a:ext cx="15087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Aptos"/>
              </a:rPr>
              <a:t>Context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20" y="1664207"/>
            <a:ext cx="150876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1682495"/>
            <a:ext cx="15087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Aptos"/>
              </a:rPr>
              <a:t>Layered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20" y="2231136"/>
            <a:ext cx="150876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2249424"/>
            <a:ext cx="15087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Aptos"/>
              </a:rPr>
              <a:t>Functional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798063"/>
            <a:ext cx="150876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20" y="2816351"/>
            <a:ext cx="15087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Aptos"/>
              </a:rPr>
              <a:t>Component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04120" y="3364991"/>
            <a:ext cx="150876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04120" y="3383279"/>
            <a:ext cx="15087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Aptos"/>
              </a:rPr>
              <a:t>Data Flow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04120" y="3931920"/>
            <a:ext cx="150876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04120" y="3950207"/>
            <a:ext cx="15087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Aptos"/>
              </a:rPr>
              <a:t>Packet 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04120" y="4498848"/>
            <a:ext cx="150876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20" y="4517136"/>
            <a:ext cx="15087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Aptos"/>
              </a:rPr>
              <a:t>Workflow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04120" y="5065776"/>
            <a:ext cx="150876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04120" y="5084064"/>
            <a:ext cx="15087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Aptos"/>
              </a:rPr>
              <a:t>Deployment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806440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F2747"/>
                </a:solidFill>
                <a:latin typeface="Aptos"/>
              </a:rPr>
              <a:t>Architecture quality attributes: security • reliability • maintainability • performance • observability • recoverability • accessibility • cost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Functional view → module view → flow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Keep business capabilities visible while implementation becomes more detailed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1874519" cy="347472"/>
          </a:xfrm>
          <a:prstGeom prst="roundRect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44168"/>
            <a:ext cx="18745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Incident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325880"/>
            <a:ext cx="1874519" cy="347472"/>
          </a:xfrm>
          <a:prstGeom prst="roundRect">
            <a:avLst/>
          </a:prstGeom>
          <a:solidFill>
            <a:srgbClr val="E4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344168"/>
            <a:ext cx="18745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325880"/>
            <a:ext cx="1874519" cy="347472"/>
          </a:xfrm>
          <a:prstGeom prst="roundRect">
            <a:avLst/>
          </a:prstGeom>
          <a:solidFill>
            <a:srgbClr val="EE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344168"/>
            <a:ext cx="18745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Volunteers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325880"/>
            <a:ext cx="1874519" cy="347472"/>
          </a:xfrm>
          <a:prstGeom prst="roundRect">
            <a:avLst/>
          </a:prstGeom>
          <a:solidFill>
            <a:srgbClr val="F8E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1344168"/>
            <a:ext cx="18745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GIS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325880"/>
            <a:ext cx="1874519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344168"/>
            <a:ext cx="18745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Communication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286000"/>
            <a:ext cx="1874519" cy="347472"/>
          </a:xfrm>
          <a:prstGeom prst="roundRect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304288"/>
            <a:ext cx="18745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Analytics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2286000"/>
            <a:ext cx="1874519" cy="347472"/>
          </a:xfrm>
          <a:prstGeom prst="roundRect">
            <a:avLst/>
          </a:prstGeom>
          <a:solidFill>
            <a:srgbClr val="E4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2304288"/>
            <a:ext cx="18745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Identity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2286000"/>
            <a:ext cx="1874519" cy="347472"/>
          </a:xfrm>
          <a:prstGeom prst="roundRect">
            <a:avLst/>
          </a:prstGeom>
          <a:solidFill>
            <a:srgbClr val="EE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2304288"/>
            <a:ext cx="18745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2286000"/>
            <a:ext cx="1874519" cy="347472"/>
          </a:xfrm>
          <a:prstGeom prst="roundRect">
            <a:avLst/>
          </a:prstGeom>
          <a:solidFill>
            <a:srgbClr val="F8E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2304288"/>
            <a:ext cx="18745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Notifications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2286000"/>
            <a:ext cx="1874519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304288"/>
            <a:ext cx="18745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Administration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520440"/>
            <a:ext cx="30175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00695C"/>
                </a:solidFill>
                <a:latin typeface="Aptos"/>
              </a:rPr>
              <a:t>Business capability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3520440"/>
            <a:ext cx="27432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D4E89"/>
                </a:solidFill>
                <a:latin typeface="Aptos"/>
              </a:rPr>
              <a:t>→ module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52044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5B468C"/>
                </a:solidFill>
                <a:latin typeface="Aptos"/>
              </a:rPr>
              <a:t>→ API / event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52044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2F7D4E"/>
                </a:solidFill>
                <a:latin typeface="Aptos"/>
              </a:rPr>
              <a:t>→ data / audit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069080"/>
            <a:ext cx="3383280" cy="1554480"/>
          </a:xfrm>
          <a:prstGeom prst="roundRect">
            <a:avLst/>
          </a:prstGeom>
          <a:solidFill>
            <a:srgbClr val="E2F1E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160520"/>
            <a:ext cx="3108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695C"/>
                </a:solidFill>
                <a:latin typeface="Aptos"/>
              </a:rPr>
              <a:t>FLOW CHECK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4507992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Actor starts journey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4818888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Workflow validates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1" y="5129783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Module enforces rule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1" y="5440679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API/event carries intent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1" y="5751575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Database records truth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069080"/>
            <a:ext cx="3383280" cy="1554480"/>
          </a:xfrm>
          <a:prstGeom prst="roundRect">
            <a:avLst/>
          </a:prstGeom>
          <a:solidFill>
            <a:srgbClr val="F8EDE1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4160520"/>
            <a:ext cx="3108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9D2D2D"/>
                </a:solidFill>
                <a:latin typeface="Aptos"/>
              </a:rPr>
              <a:t>FAILURE CHECK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2272" y="4507992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Timeout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62272" y="4818888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Validation error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62272" y="5129783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Dependency unavailable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2272" y="5440679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Duplicate request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62272" y="5751575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Partial completion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79" y="4069080"/>
            <a:ext cx="3383280" cy="1554480"/>
          </a:xfrm>
          <a:prstGeom prst="roundRect">
            <a:avLst/>
          </a:prstGeom>
          <a:solidFill>
            <a:srgbClr val="EEE9F8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92440" y="4160520"/>
            <a:ext cx="3108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5B468C"/>
                </a:solidFill>
                <a:latin typeface="Aptos"/>
              </a:rPr>
              <a:t>EVIDENCE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19871" y="4507992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Audit record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9871" y="4818888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Metric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19871" y="5129783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Trace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19871" y="5440679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Notification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19871" y="5751575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Test result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Data architecture: minimum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Make data ownership, spatial capability and recovery explicit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34440"/>
          <a:ext cx="110642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3017520"/>
                <a:gridCol w="4389120"/>
              </a:tblGrid>
              <a:tr h="5943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Store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MVP decision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Key controls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Transactional truth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Primary relational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ACID, constraints, migrations, backup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PostGIS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Spatial data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GIS-enabled queries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SRID discipline, spatial indexes, validation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Redis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Cache / sessions / queues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Performance + transient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TTL, bounded memory, persistence only where justified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Object Storage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Files / evidence / exports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Durable blob storage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Encryption, retention, versioning, access control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480560"/>
            <a:ext cx="3383280" cy="1371600"/>
          </a:xfrm>
          <a:prstGeom prst="roundRect">
            <a:avLst/>
          </a:prstGeom>
          <a:solidFill>
            <a:srgbClr val="E4EEF8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3108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D4E89"/>
                </a:solidFill>
                <a:latin typeface="Aptos"/>
              </a:rPr>
              <a:t>DATA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4919472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Data dictionary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5230368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Ownership / stewardship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5541264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Retention + deletion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5852160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Migration 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480560"/>
            <a:ext cx="3383280" cy="1371600"/>
          </a:xfrm>
          <a:prstGeom prst="roundRect">
            <a:avLst/>
          </a:prstGeom>
          <a:solidFill>
            <a:srgbClr val="E5F2EA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572000"/>
            <a:ext cx="3108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F7D4E"/>
                </a:solidFill>
                <a:latin typeface="Aptos"/>
              </a:rPr>
              <a:t>SPATIAL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4919472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Geometry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5230368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CRS / SRID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5541264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5852160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Spatial indexes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480560"/>
            <a:ext cx="3383280" cy="1371600"/>
          </a:xfrm>
          <a:prstGeom prst="roundRect">
            <a:avLst/>
          </a:prstGeom>
          <a:solidFill>
            <a:srgbClr val="F8EDE1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4572000"/>
            <a:ext cx="3108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BE671F"/>
                </a:solidFill>
                <a:latin typeface="Aptos"/>
              </a:rPr>
              <a:t>RECOVERY 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4919472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Backup frequency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5230368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Restore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5541264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RPO / RTO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5852160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Restore ownership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Security architecture + threat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Security evidence must be traceable to assets, trust boundaries and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2103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82879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695C"/>
                </a:solidFill>
                <a:latin typeface="Aptos"/>
              </a:rP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764792"/>
            <a:ext cx="17830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OIDC / 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075688"/>
            <a:ext cx="17830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RBAC / least privilege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386584"/>
            <a:ext cx="17830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Session / token policy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7208" y="1325880"/>
            <a:ext cx="2103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4368" y="1417320"/>
            <a:ext cx="182879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D4E89"/>
                </a:solidFill>
                <a:latin typeface="Aptos"/>
              </a:rPr>
              <a:t>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764792"/>
            <a:ext cx="17830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Trust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075688"/>
            <a:ext cx="17830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Secure data 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386584"/>
            <a:ext cx="17830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Input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697479"/>
            <a:ext cx="17830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API authorization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11496" y="1325880"/>
            <a:ext cx="2103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48656" y="1417320"/>
            <a:ext cx="182879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9D2D2D"/>
                </a:solidFill>
                <a:latin typeface="Aptos"/>
              </a:rPr>
              <a:t>THREATS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1764792"/>
            <a:ext cx="17830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STRIDE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2075688"/>
            <a:ext cx="17830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OWASP risk mapping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2386584"/>
            <a:ext cx="17830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Abuse cases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2697479"/>
            <a:ext cx="17830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Dependency risk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15784" y="1325880"/>
            <a:ext cx="2103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2944" y="1417320"/>
            <a:ext cx="182879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5B468C"/>
                </a:solidFill>
                <a:latin typeface="Aptos"/>
              </a:rPr>
              <a:t>PROTECTION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0376" y="1764792"/>
            <a:ext cx="17830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TLS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0376" y="2075688"/>
            <a:ext cx="17830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Encryption at rest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6" y="2386584"/>
            <a:ext cx="17830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Secrets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0376" y="2697479"/>
            <a:ext cx="17830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Audit logging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20072" y="1325880"/>
            <a:ext cx="2103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57232" y="1417320"/>
            <a:ext cx="182879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F7D4E"/>
                </a:solidFill>
                <a:latin typeface="Aptos"/>
              </a:rPr>
              <a:t>ASSURANCE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84664" y="1764792"/>
            <a:ext cx="17830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SAST / SCA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84664" y="2075688"/>
            <a:ext cx="17830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DAST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84664" y="2386584"/>
            <a:ext cx="17830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Security 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84664" y="2697479"/>
            <a:ext cx="17830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• Incident response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554480" y="5074920"/>
            <a:ext cx="8869680" cy="0"/>
          </a:xfrm>
          <a:prstGeom prst="line">
            <a:avLst/>
          </a:prstGeom>
          <a:ln w="25400">
            <a:solidFill>
              <a:srgbClr val="495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400" y="5230368"/>
            <a:ext cx="1024128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F2747"/>
                </a:solidFill>
                <a:latin typeface="Aptos"/>
              </a:rPr>
              <a:t>Asset → threat → risk → control → test → evidence →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495869"/>
                </a:solidFill>
                <a:latin typeface="Aptos"/>
              </a:rPr>
              <a:t>MVP principle: security is a cross-cutting quality attribute, not a single module.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Quality +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Automate the evidence chain before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417320"/>
            <a:ext cx="987552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35608"/>
            <a:ext cx="987552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Commit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07592" y="1591056"/>
            <a:ext cx="128015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481328" y="1417320"/>
            <a:ext cx="987552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1435608"/>
            <a:ext cx="987552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Aptos"/>
              </a:rPr>
              <a:t>Lint / SAST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68880" y="1591056"/>
            <a:ext cx="128016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42616" y="1417320"/>
            <a:ext cx="987552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42616" y="1435608"/>
            <a:ext cx="987552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5B468C"/>
                </a:solidFill>
                <a:latin typeface="Aptos"/>
              </a:rPr>
              <a:t>Unit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30168" y="1591056"/>
            <a:ext cx="128016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803904" y="1417320"/>
            <a:ext cx="987552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03904" y="1435608"/>
            <a:ext cx="987552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695C"/>
                </a:solidFill>
                <a:latin typeface="Aptos"/>
              </a:rPr>
              <a:t>Integration / API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91456" y="1591056"/>
            <a:ext cx="128016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965192" y="1417320"/>
            <a:ext cx="987552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65192" y="1435608"/>
            <a:ext cx="987552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2F7D4E"/>
                </a:solidFill>
                <a:latin typeface="Aptos"/>
              </a:rPr>
              <a:t>DB / Contract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2744" y="1591056"/>
            <a:ext cx="128015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26479" y="1417320"/>
            <a:ext cx="987552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79" y="1435608"/>
            <a:ext cx="987552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BE671F"/>
                </a:solidFill>
                <a:latin typeface="Aptos"/>
              </a:rPr>
              <a:t>Coverage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14031" y="1591056"/>
            <a:ext cx="128016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287768" y="1417320"/>
            <a:ext cx="987552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87768" y="1435608"/>
            <a:ext cx="987552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9D2D2D"/>
                </a:solidFill>
                <a:latin typeface="Aptos"/>
              </a:rPr>
              <a:t>Package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75320" y="1591056"/>
            <a:ext cx="128016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449056" y="1417320"/>
            <a:ext cx="987552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49056" y="1435608"/>
            <a:ext cx="987552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Aptos"/>
              </a:rPr>
              <a:t>Deploy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36608" y="1591056"/>
            <a:ext cx="128016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10344" y="1417320"/>
            <a:ext cx="987552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0344" y="1435608"/>
            <a:ext cx="987552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695C"/>
                </a:solidFill>
                <a:latin typeface="Aptos"/>
              </a:rPr>
              <a:t>Smoke / UAT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97896" y="1591056"/>
            <a:ext cx="128016" cy="0"/>
          </a:xfrm>
          <a:prstGeom prst="line">
            <a:avLst/>
          </a:prstGeom>
          <a:ln w="127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771632" y="1417320"/>
            <a:ext cx="987552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71632" y="1435608"/>
            <a:ext cx="987552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Monitor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240280"/>
            <a:ext cx="3383280" cy="2560320"/>
          </a:xfrm>
          <a:prstGeom prst="roundRect">
            <a:avLst/>
          </a:prstGeom>
          <a:solidFill>
            <a:srgbClr val="E5F2EA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2331720"/>
            <a:ext cx="3108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F7D4E"/>
                </a:solidFill>
                <a:latin typeface="Aptos"/>
              </a:rPr>
              <a:t>TEST PYRAMID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2679192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Unit: fast, many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2990088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Integration: boundaries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3300984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API: contract + behavior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3611879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DB: integrity + migrations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3922776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E2E/UAT: critical journeys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0" y="2240280"/>
            <a:ext cx="3383280" cy="2560320"/>
          </a:xfrm>
          <a:prstGeom prst="roundRect">
            <a:avLst/>
          </a:prstGeom>
          <a:solidFill>
            <a:srgbClr val="E4EEF8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3400" y="2331720"/>
            <a:ext cx="3108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D4E89"/>
                </a:solidFill>
                <a:latin typeface="Aptos"/>
              </a:rPr>
              <a:t>QUALITY GATES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831" y="2679192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All required tests pass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0831" y="2990088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Coverage threshold met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0831" y="3300984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No critical vulnerabilities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70831" y="3611879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Build is reproducible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0831" y="3922776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Artifact is versioned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63840" y="2240280"/>
            <a:ext cx="3383280" cy="2560320"/>
          </a:xfrm>
          <a:prstGeom prst="roundRect">
            <a:avLst/>
          </a:prstGeom>
          <a:solidFill>
            <a:srgbClr val="EEE9F8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01000" y="2331720"/>
            <a:ext cx="3108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5B468C"/>
                </a:solidFill>
                <a:latin typeface="Aptos"/>
              </a:rPr>
              <a:t>RELEASE EVIDENCE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28431" y="2679192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Commit SHA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28431" y="2990088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Test report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28431" y="3300984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Security report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28431" y="3611879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Artifact digest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28431" y="3922776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Deployment result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28431" y="4233672"/>
            <a:ext cx="3063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Rollback readiness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303520"/>
            <a:ext cx="1078992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0F2747"/>
                </a:solidFill>
                <a:latin typeface="Aptos"/>
              </a:rPr>
              <a:t>Release decision = evidence, not confidence.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Deployment +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Two MVP deployment targets; the operational contract stays the same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3383280"/>
          </a:xfrm>
          <a:prstGeom prst="roundRect">
            <a:avLst/>
          </a:prstGeom>
          <a:solidFill>
            <a:srgbClr val="E2F1E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1206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695C"/>
                </a:solidFill>
                <a:latin typeface="Aptos"/>
              </a:rPr>
              <a:t>STANDALONE UBUNTU — CAMPUS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19072"/>
            <a:ext cx="5074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Nginx / TLS / firewall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29967"/>
            <a:ext cx="5074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Containerized or supervised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340863"/>
            <a:ext cx="5074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PostgreSQL + PostGIS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651759"/>
            <a:ext cx="5074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Redis + object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962655"/>
            <a:ext cx="5074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Prometheus / Grafana / 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273551"/>
            <a:ext cx="5074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Local + off-site backup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80160"/>
            <a:ext cx="5394960" cy="3383280"/>
          </a:xfrm>
          <a:prstGeom prst="roundRect">
            <a:avLst/>
          </a:prstGeom>
          <a:solidFill>
            <a:srgbClr val="E4EEF8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371600"/>
            <a:ext cx="51206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D4E89"/>
                </a:solidFill>
                <a:latin typeface="Aptos"/>
              </a:rPr>
              <a:t>AWS — CLOUD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719072"/>
            <a:ext cx="5074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VPC / subnets / security groups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029967"/>
            <a:ext cx="5074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Compute + managed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340863"/>
            <a:ext cx="5074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Object storage + 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651759"/>
            <a:ext cx="5074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CloudWatch / tracing / alarms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962655"/>
            <a:ext cx="5074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Backup + cross-region options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273551"/>
            <a:ext cx="5074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IaC + CI/CD promotion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983480"/>
            <a:ext cx="10881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0F2747"/>
                </a:solidFill>
                <a:latin typeface="Aptos"/>
              </a:rPr>
              <a:t>Common operational contract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94960"/>
            <a:ext cx="106984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495869"/>
                </a:solidFill>
                <a:latin typeface="Aptos"/>
              </a:rPr>
              <a:t>Deploy → verify health → observe → alert → recover → document → review → improve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Observability + disaster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Operational readiness is part of MVP—not post-MVP polish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2743200" cy="4297680"/>
          </a:xfrm>
          <a:prstGeom prst="roundRect">
            <a:avLst/>
          </a:prstGeom>
          <a:solidFill>
            <a:srgbClr val="E2F1E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695C"/>
                </a:solidFill>
                <a:latin typeface="Aptos"/>
              </a:rPr>
              <a:t>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73352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Structured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84248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Correlation 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295144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Access / audit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606039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Retention 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234440"/>
            <a:ext cx="2743200" cy="4297680"/>
          </a:xfrm>
          <a:prstGeom prst="roundRect">
            <a:avLst/>
          </a:prstGeom>
          <a:solidFill>
            <a:srgbClr val="E4EEF8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32588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D4E89"/>
                </a:solidFill>
                <a:latin typeface="Aptos"/>
              </a:rPr>
              <a:t>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1673352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Availability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1984248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Latency / error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2295144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CPU / memory / disk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606039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Business indicators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234440"/>
            <a:ext cx="2743200" cy="4297680"/>
          </a:xfrm>
          <a:prstGeom prst="roundRect">
            <a:avLst/>
          </a:prstGeom>
          <a:solidFill>
            <a:srgbClr val="EEE9F8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32588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5B468C"/>
                </a:solidFill>
                <a:latin typeface="Aptos"/>
              </a:rPr>
              <a:t>TRACES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1673352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Request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1984248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Dependency 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295144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Failure hotspots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2606039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Critical workflows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1234440"/>
            <a:ext cx="2423160" cy="4297680"/>
          </a:xfrm>
          <a:prstGeom prst="roundRect">
            <a:avLst/>
          </a:prstGeom>
          <a:solidFill>
            <a:srgbClr val="F8EDE1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325880"/>
            <a:ext cx="21488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BE671F"/>
                </a:solidFill>
                <a:latin typeface="Aptos"/>
              </a:rPr>
              <a:t>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1673352"/>
            <a:ext cx="2103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Thresholds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5752" y="1984248"/>
            <a:ext cx="2103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Routing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5752" y="2295144"/>
            <a:ext cx="2103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Escalation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2606039"/>
            <a:ext cx="2103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Runbook link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F2747"/>
                </a:solidFill>
                <a:latin typeface="Aptos"/>
              </a:rPr>
              <a:t>DR: backup → restore test → failover plan → RPO/RTO → drill → evidence → improvement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Job roles grouped by SDLC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Ownership is a progression: each role needs a defined mastery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143000"/>
          <a:ext cx="113385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560320"/>
                <a:gridCol w="4023360"/>
                <a:gridCol w="3474720"/>
              </a:tblGrid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SDLC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Primary roles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Core responsibility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Mastery evidence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Foundation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Product Owner / PM / 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Vision, scope, stakeholders, outcomes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Approved PRD + measurable success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Requirements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BA / Domain Expert / System Analyst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Use cases, rules, acceptance criteria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Traceable SRS + acceptance set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Solution / Data / Security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Views, trade-offs, threats,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Architecture pack + ADRs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Engineering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Frontend / Backend / Full Stack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Implementation, reviews, tests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Working modules + quality gates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QA / Automation /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Test strategy, evidence, UAT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Coverage + test reports + defect closure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Operations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DevOps / SRE / SysAdmin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Deploy, observe, recover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Runbooks + dashboards + DR drill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Knowledge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Tech Writer / Trainer / Owner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SOPs, decisions, onboarding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91E"/>
                          </a:solidFill>
                          <a:latin typeface="Aptos"/>
                        </a:rPr>
                        <a:t>Discoverable, current knowledge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495869"/>
                </a:solidFill>
                <a:latin typeface="Aptos"/>
              </a:rPr>
              <a:t>Cross-cutting: Security • Data Stewardship • Change Management • Compliance • Documentation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Role-to-mastery transition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Use the same documentation set as the learning curriculum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1965960" cy="3246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7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150876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64208"/>
            <a:ext cx="15087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6E7C8C"/>
                </a:solidFill>
                <a:latin typeface="Aptos"/>
              </a:rPr>
              <a:t>NOVICE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16002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0F2747"/>
                </a:solidFill>
                <a:latin typeface="Aptos"/>
              </a:rPr>
              <a:t>Orientation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1600200" cy="12801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495869"/>
                </a:solidFill>
                <a:latin typeface="Aptos"/>
              </a:rPr>
              <a:t>Glossary • Vision • Domain map • Safety basics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7440" y="3017520"/>
            <a:ext cx="246888" cy="0"/>
          </a:xfrm>
          <a:prstGeom prst="line">
            <a:avLst/>
          </a:prstGeom>
          <a:ln w="25400">
            <a:solidFill>
              <a:srgbClr val="6E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43200" y="1417320"/>
            <a:ext cx="1965960" cy="3246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71800" y="1645920"/>
            <a:ext cx="150876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1664208"/>
            <a:ext cx="15087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D4E89"/>
                </a:solidFill>
                <a:latin typeface="Aptos"/>
              </a:rPr>
              <a:t>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148840"/>
            <a:ext cx="16002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0F2747"/>
                </a:solidFill>
                <a:latin typeface="Aptos"/>
              </a:rPr>
              <a:t>Guided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788920"/>
            <a:ext cx="1600200" cy="12801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495869"/>
                </a:solidFill>
                <a:latin typeface="Aptos"/>
              </a:rPr>
              <a:t>PRD/SRS reading • diagram literacy • Git • local setup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09160" y="3017520"/>
            <a:ext cx="246888" cy="0"/>
          </a:xfrm>
          <a:prstGeom prst="line">
            <a:avLst/>
          </a:prstGeom>
          <a:ln w="25400">
            <a:solidFill>
              <a:srgbClr val="1D4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74920" y="1417320"/>
            <a:ext cx="1965960" cy="3246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0" y="1645920"/>
            <a:ext cx="150876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1664208"/>
            <a:ext cx="15087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695C"/>
                </a:solidFill>
                <a:latin typeface="Aptos"/>
              </a:rPr>
              <a:t>PRACTITIONER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148840"/>
            <a:ext cx="16002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0F2747"/>
                </a:solidFill>
                <a:latin typeface="Aptos"/>
              </a:rPr>
              <a:t>Owned slice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2788920"/>
            <a:ext cx="1600200" cy="12801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495869"/>
                </a:solidFill>
                <a:latin typeface="Aptos"/>
              </a:rPr>
              <a:t>Implement/test/run one bounded capability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40879" y="3017520"/>
            <a:ext cx="246889" cy="0"/>
          </a:xfrm>
          <a:prstGeom prst="line">
            <a:avLst/>
          </a:prstGeom>
          <a:ln w="25400">
            <a:solidFill>
              <a:srgbClr val="0069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06640" y="1417320"/>
            <a:ext cx="1965960" cy="3246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35240" y="1645920"/>
            <a:ext cx="150876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1664208"/>
            <a:ext cx="15087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2F7D4E"/>
                </a:solidFill>
                <a:latin typeface="Aptos"/>
              </a:rPr>
              <a:t>INDEPENDENT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19" y="2148840"/>
            <a:ext cx="16002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0F2747"/>
                </a:solidFill>
                <a:latin typeface="Aptos"/>
              </a:rPr>
              <a:t>End-to-end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19" y="2788920"/>
            <a:ext cx="1600200" cy="12801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495869"/>
                </a:solidFill>
                <a:latin typeface="Aptos"/>
              </a:rPr>
              <a:t>Design → build → test → deploy → observe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72600" y="3017520"/>
            <a:ext cx="246888" cy="0"/>
          </a:xfrm>
          <a:prstGeom prst="line">
            <a:avLst/>
          </a:prstGeom>
          <a:ln w="25400">
            <a:solidFill>
              <a:srgbClr val="2F7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738359" y="1417320"/>
            <a:ext cx="1965960" cy="3246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B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66959" y="1645920"/>
            <a:ext cx="150876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59" y="1664208"/>
            <a:ext cx="15087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5B468C"/>
                </a:solidFill>
                <a:latin typeface="Aptos"/>
              </a:rPr>
              <a:t>MASTER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39" y="2148840"/>
            <a:ext cx="16002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0F2747"/>
                </a:solidFill>
                <a:latin typeface="Aptos"/>
              </a:rPr>
              <a:t>System stewardship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39" y="2788920"/>
            <a:ext cx="1600200" cy="12801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495869"/>
                </a:solidFill>
                <a:latin typeface="Aptos"/>
              </a:rPr>
              <a:t>Decide • mentor • review • optimize • evolve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074920"/>
            <a:ext cx="109728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F2747"/>
                </a:solidFill>
                <a:latin typeface="Aptos"/>
              </a:rPr>
              <a:t>Mastery is demonstrated by evidence: can explain → can perform → can troubleshoot → can improve → can teach.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Role-specific learning pathways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Different roles share foundations, then branch into their evidence of mastery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5486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316736"/>
            <a:ext cx="13258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695C"/>
                </a:solidFill>
                <a:latin typeface="Aptos"/>
              </a:rPr>
              <a:t>Product / 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298448"/>
            <a:ext cx="370332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Vision → PRD → Stakeholders → Domains → SRS → Acceptance →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188720"/>
            <a:ext cx="5486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1" y="1316736"/>
            <a:ext cx="13258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D4E89"/>
                </a:solidFill>
                <a:latin typeface="Aptos"/>
              </a:rPr>
              <a:t>Architect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19" y="1298448"/>
            <a:ext cx="370332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PRD → Quality Attributes → Context → Layers → Components → Data/API → ADR → Threats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31720"/>
            <a:ext cx="5486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5B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459736"/>
            <a:ext cx="13258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5B468C"/>
                </a:solidFill>
                <a:latin typeface="Aptos"/>
              </a:rPr>
              <a:t>Developer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441448"/>
            <a:ext cx="370332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SRS → Module → API → DB → Tests → CI → Observability → Refactoring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331720"/>
            <a:ext cx="5486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F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1" y="2459736"/>
            <a:ext cx="13258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F7D4E"/>
                </a:solidFill>
                <a:latin typeface="Aptos"/>
              </a:rPr>
              <a:t>QA /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19" y="2441448"/>
            <a:ext cx="370332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Requirements → Risk → Test Design → Unit/API/DB → Integration → E2E/UAT → Quality Gates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74720"/>
            <a:ext cx="5486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3602736"/>
            <a:ext cx="13258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BE671F"/>
                </a:solidFill>
                <a:latin typeface="Aptos"/>
              </a:rPr>
              <a:t>DevOps / SRE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584448"/>
            <a:ext cx="370332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Architecture → Linux/Networking → CI/CD → Deploy → Metrics/Logs/Traces → DR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3474720"/>
            <a:ext cx="5486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9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1" y="3602736"/>
            <a:ext cx="13258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9D2D2D"/>
                </a:solidFill>
                <a:latin typeface="Aptos"/>
              </a:rPr>
              <a:t>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19" y="3584448"/>
            <a:ext cx="370332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Assets → Trust Boundaries → STRIDE/OWASP → IAM → Secure Flows → Scans → Incident Response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617720"/>
            <a:ext cx="5486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4745736"/>
            <a:ext cx="13258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695C"/>
                </a:solidFill>
                <a:latin typeface="Aptos"/>
              </a:rPr>
              <a:t>Data / DBA / GIS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727448"/>
            <a:ext cx="370332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Domain → ERD → PostgreSQL → PostGIS → Indexing → Backup → Data Quality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4617720"/>
            <a:ext cx="5486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1" y="4745736"/>
            <a:ext cx="13258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D4E89"/>
                </a:solidFill>
                <a:latin typeface="Aptos"/>
              </a:rPr>
              <a:t>Support / Knowledge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19" y="4727448"/>
            <a:ext cx="370332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User Journeys → SOPs → Runbooks → Monitoring → Incident → RCA → Knowledge Base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Supplementary guides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Reading beyond the minimum document set—use them to accelerate safe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508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F2747"/>
                </a:solidFill>
                <a:latin typeface="Aptos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170432"/>
            <a:ext cx="40690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C4-style context/container/component thinking; ADRs; quality attributes; trade-off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1170432"/>
            <a:ext cx="1508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F2747"/>
                </a:solidFill>
                <a:latin typeface="Aptos"/>
              </a:rPr>
              <a:t>API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170432"/>
            <a:ext cx="40690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OpenAPI; HTTP semantics; error models; versioning; idempotency; auth; rate limiting.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03120"/>
            <a:ext cx="1508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F2747"/>
                </a:solidFill>
                <a:latin typeface="Aptos"/>
              </a:rPr>
              <a:t>Database &amp; GIS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103120"/>
            <a:ext cx="40690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PostgreSQL fundamentals; PostGIS spatial types/indexes; migrations; backup/restore; data quality.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103120"/>
            <a:ext cx="1508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F2747"/>
                </a:solidFill>
                <a:latin typeface="Aptos"/>
              </a:rP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103120"/>
            <a:ext cx="40690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OWASP Top 10; STRIDE; OIDC/OAuth; RBAC; secrets; TLS; secure coding; dependency hygiene.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35808"/>
            <a:ext cx="1508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F2747"/>
                </a:solidFill>
                <a:latin typeface="Aptos"/>
              </a:rPr>
              <a:t>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035808"/>
            <a:ext cx="40690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Testing pyramid; contract testing; API testing; performance; security testing; UAT; test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035808"/>
            <a:ext cx="1508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F2747"/>
                </a:solidFill>
                <a:latin typeface="Aptos"/>
              </a:rPr>
              <a:t>DevOps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035808"/>
            <a:ext cx="40690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Git; CI/CD; Linux; Docker; reverse proxy; TLS; deployment strategies; rollback.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968496"/>
            <a:ext cx="1508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F2747"/>
                </a:solidFill>
                <a:latin typeface="Aptos"/>
              </a:rPr>
              <a:t>Observability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3968496"/>
            <a:ext cx="40690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Structured logs; metrics; traces; SLI/SLO; alert design; dashboards; incident response.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968496"/>
            <a:ext cx="1508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F2747"/>
                </a:solidFill>
                <a:latin typeface="Aptos"/>
              </a:rPr>
              <a:t>DR &amp; Resilience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968496"/>
            <a:ext cx="40690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RPO/RTO; backup strategy; restore drills; failover/failback; runbooks; game days.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901184"/>
            <a:ext cx="1508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F2747"/>
                </a:solidFill>
                <a:latin typeface="Aptos"/>
              </a:rPr>
              <a:t>Accessibility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901184"/>
            <a:ext cx="40690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WCAG 2.2; keyboard access; semantic structure; focus; labels; errors; contrast; inclusive UX.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4901184"/>
            <a:ext cx="1508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F2747"/>
                </a:solidFill>
                <a:latin typeface="Aptos"/>
              </a:rPr>
              <a:t>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901184"/>
            <a:ext cx="40690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RACI; change control; risk register; decision log; audit evidence; documentation lifecycle.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MVP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A minimum credible release should be explainable, testable, deployable and recoverable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70432"/>
            <a:ext cx="868680" cy="347472"/>
          </a:xfrm>
          <a:prstGeom prst="roundRect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88720"/>
            <a:ext cx="868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695C"/>
                </a:solidFill>
                <a:latin typeface="Aptos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188720"/>
            <a:ext cx="452628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4191E"/>
                </a:solidFill>
                <a:latin typeface="Aptos"/>
              </a:rPr>
              <a:t>✓ PRD approved; MVP scope explicit; success metrics measurable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70432"/>
            <a:ext cx="86868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88720"/>
            <a:ext cx="868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STAKEHOLDERS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188720"/>
            <a:ext cx="452628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4191E"/>
                </a:solidFill>
                <a:latin typeface="Aptos"/>
              </a:rPr>
              <a:t>✓ Roles, decision rights, escalation and ownership documented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20824"/>
            <a:ext cx="86868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39112"/>
            <a:ext cx="868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039112"/>
            <a:ext cx="452628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4191E"/>
                </a:solidFill>
                <a:latin typeface="Aptos"/>
              </a:rPr>
              <a:t>✓ Acceptance criteria + traceability exist for critical capabilities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020824"/>
            <a:ext cx="868680" cy="347472"/>
          </a:xfrm>
          <a:prstGeom prst="roundRect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039112"/>
            <a:ext cx="868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695C"/>
                </a:solidFill>
                <a:latin typeface="Aptos"/>
              </a:rPr>
              <a:t>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039112"/>
            <a:ext cx="452628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4191E"/>
                </a:solidFill>
                <a:latin typeface="Aptos"/>
              </a:rPr>
              <a:t>✓ Context/layer/component/data/deployment views + ADRs exist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871216"/>
            <a:ext cx="86868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89504"/>
            <a:ext cx="868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889504"/>
            <a:ext cx="452628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4191E"/>
                </a:solidFill>
                <a:latin typeface="Aptos"/>
              </a:rPr>
              <a:t>✓ Schema, PostGIS rules, migrations, retention and backup are defined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871216"/>
            <a:ext cx="86868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889504"/>
            <a:ext cx="868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889504"/>
            <a:ext cx="452628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4191E"/>
                </a:solidFill>
                <a:latin typeface="Aptos"/>
              </a:rPr>
              <a:t>✓ Threat model + authN/authZ + audit + security tests are evidenced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721608"/>
            <a:ext cx="868680" cy="347472"/>
          </a:xfrm>
          <a:prstGeom prst="roundRect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739896"/>
            <a:ext cx="868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695C"/>
                </a:solidFill>
                <a:latin typeface="Aptos"/>
              </a:rPr>
              <a:t>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739896"/>
            <a:ext cx="452628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4191E"/>
                </a:solidFill>
                <a:latin typeface="Aptos"/>
              </a:rPr>
              <a:t>✓ Unit/API/integration/DB/contract/E2E/UAT plan and gates are automated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721608"/>
            <a:ext cx="86868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739896"/>
            <a:ext cx="868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739896"/>
            <a:ext cx="452628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4191E"/>
                </a:solidFill>
                <a:latin typeface="Aptos"/>
              </a:rPr>
              <a:t>✓ CI/CD produces versioned artifacts and supports rollback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72000"/>
            <a:ext cx="86868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590288"/>
            <a:ext cx="868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OPERATIONS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590288"/>
            <a:ext cx="452628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4191E"/>
                </a:solidFill>
                <a:latin typeface="Aptos"/>
              </a:rPr>
              <a:t>✓ Health checks, logs, metrics, alerts and runbooks are usable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572000"/>
            <a:ext cx="868680" cy="347472"/>
          </a:xfrm>
          <a:prstGeom prst="roundRect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4590288"/>
            <a:ext cx="868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695C"/>
                </a:solidFill>
                <a:latin typeface="Aptos"/>
              </a:rPr>
              <a:t>RECOVERY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4590288"/>
            <a:ext cx="452628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4191E"/>
                </a:solidFill>
                <a:latin typeface="Aptos"/>
              </a:rPr>
              <a:t>✓ Backups are restorable; RPO/RTO targets are tested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422392"/>
            <a:ext cx="868680" cy="34747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440680"/>
            <a:ext cx="8686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KNOWLEDGE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5440680"/>
            <a:ext cx="452628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4191E"/>
                </a:solidFill>
                <a:latin typeface="Aptos"/>
              </a:rPr>
              <a:t>✓ Onboarding, SOPs, decisions and ownership are discoverable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Review, validation &amp; conformance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The artifact set stays trustworthy through recurring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1115567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554480"/>
                <a:gridCol w="4937760"/>
                <a:gridCol w="3749039"/>
              </a:tblGrid>
              <a:tr h="52006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Gate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Focus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Primary reviewers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G0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Vision / PRD / stakeholders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Product + 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G1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Requirements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SRS / acceptance / traceability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BA + domain + QA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G2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Views / ADRs / data / threats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Architect +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G3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Build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Code / tests / scans / contracts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Engineering + QA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G4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Release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CI/CD evidence / UAT /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Release +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G5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Operate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SLOs / incidents / backups / DR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SRE / admin / owner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G6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Improve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RCA / lessons / roadmap / decisions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91E"/>
                          </a:solidFill>
                          <a:latin typeface="Aptos"/>
                        </a:rPr>
                        <a:t>All accountable owners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F2747"/>
                </a:solidFill>
                <a:latin typeface="Aptos"/>
              </a:rPr>
              <a:t>Accessibility baseline for the product UI: target WCAG 2.2 AA; do not rely on color alone; design for keyboard/focus; verify contrast and interaction states.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Accessibility &amp; visual conformance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A calm poster/deck style is useful only if the actual product is accessible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3474720" cy="4206240"/>
          </a:xfrm>
          <a:prstGeom prst="roundRect">
            <a:avLst/>
          </a:prstGeom>
          <a:solidFill>
            <a:srgbClr val="E2F1E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32004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695C"/>
                </a:solidFill>
                <a:latin typeface="Aptos"/>
              </a:rPr>
              <a:t>WCAG 2.2 AA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673352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Perceivable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84248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Operable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95144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Understandable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606039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Robust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916935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Keyboard usable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227831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Visible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538727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Accessible names / labels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849623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Error prevention + recovery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234440"/>
            <a:ext cx="3474720" cy="4206240"/>
          </a:xfrm>
          <a:prstGeom prst="roundRect">
            <a:avLst/>
          </a:prstGeom>
          <a:solidFill>
            <a:srgbClr val="E4EEF8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325880"/>
            <a:ext cx="32004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D4E89"/>
                </a:solidFill>
                <a:latin typeface="Aptos"/>
              </a:rPr>
              <a:t>VISUAL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1673352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Strong text/background contrast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1984248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Never encode meaning by color alone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2295144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Readable type hierarchy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2606039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Adequate spacing / touch targets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2916935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Consistent components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3227831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No decorative clutter behind 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1234440"/>
            <a:ext cx="3474720" cy="4206240"/>
          </a:xfrm>
          <a:prstGeom prst="roundRect">
            <a:avLst/>
          </a:prstGeom>
          <a:solidFill>
            <a:srgbClr val="EEE9F8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325880"/>
            <a:ext cx="32004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5B468C"/>
                </a:solidFill>
                <a:latin typeface="Aptos"/>
              </a:rP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1673352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Automated accessibility scan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1984248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Keyboard-only 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2295144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Screen-reader spot checks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2606039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Contrast checks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2916935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Zoom / reflow 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3227831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Critical journey manual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1" y="3538727"/>
            <a:ext cx="31546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• Record defects +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E7C8C"/>
                </a:solidFill>
                <a:latin typeface="Aptos"/>
              </a:rPr>
              <a:t>W3C identifies WCAG 2.2 as a current W3C Recommendation; this deck uses it as the accessibility baseline for IDRM UI work.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F2747"/>
                </a:solidFill>
                <a:latin typeface="Aptos Display"/>
              </a:rPr>
              <a:t>Reusable CO-STAR-A master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95869"/>
                </a:solidFill>
                <a:latin typeface="Aptos"/>
              </a:rPr>
              <a:t>Use this to generate future IDRM posters or reference diagrams consistently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E7C8C"/>
                </a:solidFill>
                <a:latin typeface="Aptos"/>
              </a:rPr>
              <a:t>IDRM • Integrated Disaster Response Management •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645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to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960120" cy="347472"/>
          </a:xfrm>
          <a:prstGeom prst="roundRect">
            <a:avLst/>
          </a:prstGeom>
          <a:solidFill>
            <a:srgbClr val="E4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61288"/>
            <a:ext cx="9601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161288"/>
            <a:ext cx="978408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IDRM MVP; disaster-response platform; stakeholder-to-SDLC documentation; target deployment may be standalone Ubuntu campus or AWS.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01368"/>
            <a:ext cx="960120" cy="347472"/>
          </a:xfrm>
          <a:prstGeom prst="roundRect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19656"/>
            <a:ext cx="9601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819656"/>
            <a:ext cx="978408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Create one accurate, self-contained reference artifact for the requested IDRM topic; add only MVP-relevant concepts.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459736"/>
            <a:ext cx="960120" cy="347472"/>
          </a:xfrm>
          <a:prstGeom prst="roundRect">
            <a:avLst/>
          </a:prstGeom>
          <a:solidFill>
            <a:srgbClr val="E4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78024"/>
            <a:ext cx="9601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478024"/>
            <a:ext cx="978408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Serene, sober, professional, restrained; high information density without visual clutter; consistent IDRM navy/teal palette.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118104"/>
            <a:ext cx="960120" cy="347472"/>
          </a:xfrm>
          <a:prstGeom prst="roundRect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136392"/>
            <a:ext cx="9601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136392"/>
            <a:ext cx="978408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Calm, precise, trustworthy, engineering-oriented; avoid marketing hype and unsupported claims.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776472"/>
            <a:ext cx="960120" cy="347472"/>
          </a:xfrm>
          <a:prstGeom prst="roundRect">
            <a:avLst/>
          </a:prstGeom>
          <a:solidFill>
            <a:srgbClr val="E4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794759"/>
            <a:ext cx="9601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794759"/>
            <a:ext cx="978408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Citizens, responders, administrators, product/business, architects, developers, QA, security, DevOps/SRE, data and support teams.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434840"/>
            <a:ext cx="960120" cy="347472"/>
          </a:xfrm>
          <a:prstGeom prst="roundRect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453127"/>
            <a:ext cx="9601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453127"/>
            <a:ext cx="978408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Enumerate layers, responsibilities, flows, controls, dependencies, evidence and decision points; distinguish MVP from future evolution.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093208"/>
            <a:ext cx="960120" cy="347472"/>
          </a:xfrm>
          <a:prstGeom prst="roundRect">
            <a:avLst/>
          </a:prstGeom>
          <a:solidFill>
            <a:srgbClr val="E4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111496"/>
            <a:ext cx="9601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F2747"/>
                </a:solidFill>
                <a:latin typeface="Aptos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111496"/>
            <a:ext cx="978408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95869"/>
                </a:solidFill>
                <a:latin typeface="Aptos"/>
              </a:rPr>
              <a:t>Review for internal consistency, terminology, compatibility, security, accessibility and conformance; target WCAG 2.2 AA principles for UI; avoid color-only encoding; validate every diagram arrow and label.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 Display"/>
              </a:rPr>
              <a:t>IDRM MVP — THE MINIMUM COMPLETE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0">
                <a:solidFill>
                  <a:srgbClr val="DCE6F0"/>
                </a:solidFill>
                <a:latin typeface="Aptos"/>
              </a:rPr>
              <a:t>Not the most documents. The smallest set of evidence that lets the team understand, build, secure, test, operate and evolve the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737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0695C"/>
                </a:solidFill>
                <a:latin typeface="Aptos"/>
              </a:rPr>
              <a:t>UNDERSTAND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1737360" cy="6858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495869"/>
                </a:solidFill>
                <a:latin typeface="Aptos"/>
              </a:rPr>
              <a:t>Vision • PRD • Stakeholders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46888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743200"/>
            <a:ext cx="1737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D4E89"/>
                </a:solidFill>
                <a:latin typeface="Aptos"/>
              </a:rPr>
              <a:t>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337560"/>
            <a:ext cx="1737360" cy="6858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495869"/>
                </a:solidFill>
                <a:latin typeface="Aptos"/>
              </a:rPr>
              <a:t>Requirements • Architecture • Data • 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246888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5B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2743200"/>
            <a:ext cx="1737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5B468C"/>
                </a:solidFill>
                <a:latin typeface="Aptos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337560"/>
            <a:ext cx="1737360" cy="6858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495869"/>
                </a:solidFill>
                <a:latin typeface="Aptos"/>
              </a:rPr>
              <a:t>Modules • APIs • Tests • CI/CD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46888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F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2743200"/>
            <a:ext cx="1737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F7D4E"/>
                </a:solidFill>
                <a:latin typeface="Aptos"/>
              </a:rPr>
              <a:t>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337560"/>
            <a:ext cx="1737360" cy="6858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495869"/>
                </a:solidFill>
                <a:latin typeface="Aptos"/>
              </a:rPr>
              <a:t>Deployment • Observability • DR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246888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E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2743200"/>
            <a:ext cx="1737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BE671F"/>
                </a:solidFill>
                <a:latin typeface="Aptos"/>
              </a:rPr>
              <a:t>SUSTAIN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3337560"/>
            <a:ext cx="1737360" cy="6858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495869"/>
                </a:solidFill>
                <a:latin typeface="Aptos"/>
              </a:rPr>
              <a:t>Roles • Ownership • Knowledge • Evolution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Better Data. Better Response. Better Outcomes.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BED2E1"/>
                </a:solidFill>
                <a:latin typeface="Aptos"/>
              </a:rPr>
              <a:t>Prepared today • Protected tomorrow • Designed to 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